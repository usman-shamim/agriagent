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Good afternoon. Biopesticides are safe for farmers, consumers, and export compliance — but sunlight destroys them within hours. AgriAgent formulates them on demand, at the moment of spraying, from live weather. One decision, made correctly, every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The active ingredient is destroyed by exactly the conditions that make spraying useful. Same crop, same day: half-life swings from about nine hours at midday to three days at night. A fixed pre-mixed tank is guaranteed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We deliberately dropped pest detection and yield prediction. The whole build answers one question: given the weather right now, what is the exact mix of biopesticide, UV stabilizer, and surfactant? Weather in, recipe out, safety-gated, dispensed.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Three named agents wired with native handoffs. The LLM decides which tool to call and when to hand off — that is all it decides. Every number you will see today comes from deterministic Python engines, validated by Pydantic at every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This is the credibility anchor. The engines are pure standard-library math — zero third-party dependencies — and the self-test gate proves the numbers on every run: 21 checks, from the degradation constant to the guardrail rejections.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 [SWITCH TO THE LIVE DASHBOARD] Watch the tanks fall as each pump actuates — state is published after every pump, not just at the end. The recipe and runtimes you see are exactly what the payload commanded. [click Dispatch now, wait ~2 s, point at the falling bars and the DISPATCH_COMPLETE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 [SET BATCH TO 10 L ON THE LIVE DASHBOARD] Now the dangerous request. The button disables itself before I can even try, with the exact rule that failed. A system that refuses is what makes unattended dosing acceptable — this matters more than the success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 — The commercial case: up to 90 % less synthetic volume, about PKR 45,000 per acre, and export corridors protected by residue compliance. And the honest limits, because the numbers we can prove live are the kinetics, the recipe, the guardrail, and the dispatch — the savings are literature-backed targets.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5637276" y="1051560"/>
            <a:ext cx="914400" cy="914400"/>
          </a:xfrm>
          <a:prstGeom prst="ellipse">
            <a:avLst/>
          </a:prstGeom>
          <a:solidFill>
            <a:srgbClr val="97BC62"/>
          </a:solidFill>
          <a:ln/>
        </p:spPr>
      </p:sp>
      <p:pic>
        <p:nvPicPr>
          <p:cNvPr id="3" name="Image 0" descr="preencoded.png">    </p:cNvPr>
          <p:cNvPicPr>
            <a:picLocks noChangeAspect="1"/>
          </p:cNvPicPr>
          <p:nvPr/>
        </p:nvPicPr>
        <p:blipFill>
          <a:blip r:embed="rId1"/>
          <a:stretch>
            <a:fillRect/>
          </a:stretch>
        </p:blipFill>
        <p:spPr>
          <a:xfrm>
            <a:off x="5865876" y="1280160"/>
            <a:ext cx="457200" cy="457200"/>
          </a:xfrm>
          <a:prstGeom prst="rect">
            <a:avLst/>
          </a:prstGeom>
        </p:spPr>
      </p:pic>
      <p:sp>
        <p:nvSpPr>
          <p:cNvPr id="4" name="Text 1"/>
          <p:cNvSpPr/>
          <p:nvPr/>
        </p:nvSpPr>
        <p:spPr>
          <a:xfrm>
            <a:off x="548640" y="2148840"/>
            <a:ext cx="11091672" cy="1188720"/>
          </a:xfrm>
          <a:prstGeom prst="rect">
            <a:avLst/>
          </a:prstGeom>
          <a:noFill/>
          <a:ln/>
        </p:spPr>
        <p:txBody>
          <a:bodyPr wrap="square" lIns="0" tIns="0" rIns="0" bIns="0"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AgriAgent</a:t>
            </a:r>
            <a:endParaRPr lang="en-US" sz="7200" dirty="0"/>
          </a:p>
        </p:txBody>
      </p:sp>
      <p:sp>
        <p:nvSpPr>
          <p:cNvPr id="5" name="Text 2"/>
          <p:cNvSpPr/>
          <p:nvPr/>
        </p:nvSpPr>
        <p:spPr>
          <a:xfrm>
            <a:off x="548640" y="3383280"/>
            <a:ext cx="11091672" cy="502920"/>
          </a:xfrm>
          <a:prstGeom prst="rect">
            <a:avLst/>
          </a:prstGeom>
          <a:noFill/>
          <a:ln/>
        </p:spPr>
        <p:txBody>
          <a:bodyPr wrap="square" lIns="0" tIns="0" rIns="0" bIns="0" rtlCol="0" anchor="ctr"/>
          <a:lstStyle/>
          <a:p>
            <a:pPr algn="ctr" indent="0" marL="0">
              <a:buNone/>
            </a:pPr>
            <a:r>
              <a:rPr lang="en-US" sz="2600" i="1" dirty="0">
                <a:solidFill>
                  <a:srgbClr val="97BC62"/>
                </a:solidFill>
                <a:latin typeface="Cambria" pitchFamily="34" charset="0"/>
                <a:ea typeface="Cambria" pitchFamily="34" charset="-122"/>
                <a:cs typeface="Cambria" pitchFamily="34" charset="-120"/>
              </a:rPr>
              <a:t>Biopesticides that survive the sun</a:t>
            </a:r>
            <a:endParaRPr lang="en-US" sz="2600" dirty="0"/>
          </a:p>
        </p:txBody>
      </p:sp>
      <p:sp>
        <p:nvSpPr>
          <p:cNvPr id="6" name="Text 3"/>
          <p:cNvSpPr/>
          <p:nvPr/>
        </p:nvSpPr>
        <p:spPr>
          <a:xfrm>
            <a:off x="1645920" y="4069080"/>
            <a:ext cx="8897112" cy="457200"/>
          </a:xfrm>
          <a:prstGeom prst="rect">
            <a:avLst/>
          </a:prstGeom>
          <a:noFill/>
          <a:ln/>
        </p:spPr>
        <p:txBody>
          <a:bodyPr wrap="square" lIns="0" tIns="0" rIns="0" bIns="0" rtlCol="0" anchor="ctr"/>
          <a:lstStyle/>
          <a:p>
            <a:pPr algn="ctr" indent="0" marL="0">
              <a:buNone/>
            </a:pPr>
            <a:r>
              <a:rPr lang="en-US" sz="1500" dirty="0">
                <a:solidFill>
                  <a:srgbClr val="DDE8D8"/>
                </a:solidFill>
                <a:latin typeface="Calibri" pitchFamily="34" charset="0"/>
                <a:ea typeface="Calibri" pitchFamily="34" charset="-122"/>
                <a:cs typeface="Calibri" pitchFamily="34" charset="-120"/>
              </a:rPr>
              <a:t>Autonomous SCADA for on-demand biopesticide formulation — Perception → Formulation → Safety → Actuator</a:t>
            </a:r>
            <a:endParaRPr lang="en-US" sz="1500" dirty="0"/>
          </a:p>
        </p:txBody>
      </p:sp>
      <p:sp>
        <p:nvSpPr>
          <p:cNvPr id="7" name="Text 4"/>
          <p:cNvSpPr/>
          <p:nvPr/>
        </p:nvSpPr>
        <p:spPr>
          <a:xfrm>
            <a:off x="548640" y="5989320"/>
            <a:ext cx="11091672" cy="365760"/>
          </a:xfrm>
          <a:prstGeom prst="rect">
            <a:avLst/>
          </a:prstGeom>
          <a:noFill/>
          <a:ln/>
        </p:spPr>
        <p:txBody>
          <a:bodyPr wrap="square" lIns="0" tIns="0" rIns="0" bIns="0" rtlCol="0" anchor="ctr"/>
          <a:lstStyle/>
          <a:p>
            <a:pPr algn="ctr" indent="0" marL="0">
              <a:buNone/>
            </a:pPr>
            <a:r>
              <a:rPr lang="en-US" sz="1200" dirty="0">
                <a:solidFill>
                  <a:srgbClr val="A8C4A0"/>
                </a:solidFill>
                <a:latin typeface="Calibri" pitchFamily="34" charset="0"/>
                <a:ea typeface="Calibri" pitchFamily="34" charset="-122"/>
                <a:cs typeface="Calibri" pitchFamily="34" charset="-120"/>
              </a:rPr>
              <a:t>Hackathon pitch · 3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E7F0E2"/>
          </a:solidFill>
          <a:ln/>
        </p:spPr>
      </p:sp>
      <p:pic>
        <p:nvPicPr>
          <p:cNvPr id="3" name="Image 0" descr="preencoded.png">    </p:cNvPr>
          <p:cNvPicPr>
            <a:picLocks noChangeAspect="1"/>
          </p:cNvPicPr>
          <p:nvPr/>
        </p:nvPicPr>
        <p:blipFill>
          <a:blip r:embed="rId1"/>
          <a:stretch>
            <a:fillRect/>
          </a:stretch>
        </p:blipFill>
        <p:spPr>
          <a:xfrm>
            <a:off x="667512" y="576072"/>
            <a:ext cx="237744" cy="237744"/>
          </a:xfrm>
          <a:prstGeom prst="rect">
            <a:avLst/>
          </a:prstGeom>
        </p:spPr>
      </p:pic>
      <p:sp>
        <p:nvSpPr>
          <p:cNvPr id="4" name="Text 1"/>
          <p:cNvSpPr/>
          <p:nvPr/>
        </p:nvSpPr>
        <p:spPr>
          <a:xfrm>
            <a:off x="1170432" y="457200"/>
            <a:ext cx="7772400" cy="475488"/>
          </a:xfrm>
          <a:prstGeom prst="rect">
            <a:avLst/>
          </a:prstGeom>
          <a:noFill/>
          <a:ln/>
        </p:spPr>
        <p:txBody>
          <a:bodyPr wrap="square" lIns="0" tIns="0" rIns="0" bIns="0" rtlCol="0" anchor="ctr"/>
          <a:lstStyle/>
          <a:p>
            <a:pPr algn="l" indent="0" marL="0">
              <a:buNone/>
            </a:pPr>
            <a:r>
              <a:rPr lang="en-US" sz="1300" b="1" spc="300" kern="0" dirty="0">
                <a:solidFill>
                  <a:srgbClr val="2C5F2D"/>
                </a:solidFill>
                <a:latin typeface="Calibri" pitchFamily="34" charset="0"/>
                <a:ea typeface="Calibri" pitchFamily="34" charset="-122"/>
                <a:cs typeface="Calibri" pitchFamily="34" charset="-120"/>
              </a:rPr>
              <a:t>THE PROBLEM</a:t>
            </a:r>
            <a:endParaRPr lang="en-US" sz="1300" dirty="0"/>
          </a:p>
        </p:txBody>
      </p:sp>
      <p:sp>
        <p:nvSpPr>
          <p:cNvPr id="5" name="Text 2"/>
          <p:cNvSpPr/>
          <p:nvPr/>
        </p:nvSpPr>
        <p:spPr>
          <a:xfrm>
            <a:off x="548640" y="1024128"/>
            <a:ext cx="11064240" cy="777240"/>
          </a:xfrm>
          <a:prstGeom prst="rect">
            <a:avLst/>
          </a:prstGeom>
          <a:noFill/>
          <a:ln/>
        </p:spPr>
        <p:txBody>
          <a:bodyPr wrap="square" lIns="0" tIns="0" rIns="0" bIns="0" rtlCol="0" anchor="t"/>
          <a:lstStyle/>
          <a:p>
            <a:pPr algn="l" indent="0" marL="0">
              <a:buNone/>
            </a:pPr>
            <a:r>
              <a:rPr lang="en-US" sz="3800" b="1" dirty="0">
                <a:solidFill>
                  <a:srgbClr val="1C2B1D"/>
                </a:solidFill>
                <a:latin typeface="Cambria" pitchFamily="34" charset="0"/>
                <a:ea typeface="Cambria" pitchFamily="34" charset="-122"/>
                <a:cs typeface="Cambria" pitchFamily="34" charset="-120"/>
              </a:rPr>
              <a:t>Sunlight destroys the cure</a:t>
            </a:r>
            <a:endParaRPr lang="en-US" sz="3800" dirty="0"/>
          </a:p>
        </p:txBody>
      </p:sp>
      <p:sp>
        <p:nvSpPr>
          <p:cNvPr id="6" name="Shape 3"/>
          <p:cNvSpPr/>
          <p:nvPr/>
        </p:nvSpPr>
        <p:spPr>
          <a:xfrm>
            <a:off x="548640" y="2148840"/>
            <a:ext cx="3520440" cy="2377440"/>
          </a:xfrm>
          <a:prstGeom prst="roundRect">
            <a:avLst>
              <a:gd name="adj" fmla="val 4615"/>
            </a:avLst>
          </a:prstGeom>
          <a:solidFill>
            <a:srgbClr val="E7F0E2"/>
          </a:solidFill>
          <a:ln/>
        </p:spPr>
      </p:sp>
      <p:sp>
        <p:nvSpPr>
          <p:cNvPr id="7" name="Text 4"/>
          <p:cNvSpPr/>
          <p:nvPr/>
        </p:nvSpPr>
        <p:spPr>
          <a:xfrm>
            <a:off x="548640" y="2331720"/>
            <a:ext cx="3520440" cy="1005840"/>
          </a:xfrm>
          <a:prstGeom prst="rect">
            <a:avLst/>
          </a:prstGeom>
          <a:noFill/>
          <a:ln/>
        </p:spPr>
        <p:txBody>
          <a:bodyPr wrap="square" lIns="0" tIns="0" rIns="0" bIns="0" rtlCol="0" anchor="ctr"/>
          <a:lstStyle/>
          <a:p>
            <a:pPr algn="ctr" indent="0" marL="0">
              <a:buNone/>
            </a:pPr>
            <a:r>
              <a:rPr lang="en-US" sz="6000" b="1" dirty="0">
                <a:solidFill>
                  <a:srgbClr val="2C5F2D"/>
                </a:solidFill>
                <a:latin typeface="Cambria" pitchFamily="34" charset="0"/>
                <a:ea typeface="Cambria" pitchFamily="34" charset="-122"/>
                <a:cs typeface="Cambria" pitchFamily="34" charset="-120"/>
              </a:rPr>
              <a:t>8.8 h</a:t>
            </a:r>
            <a:endParaRPr lang="en-US" sz="6000" dirty="0"/>
          </a:p>
        </p:txBody>
      </p:sp>
      <p:sp>
        <p:nvSpPr>
          <p:cNvPr id="8" name="Text 5"/>
          <p:cNvSpPr/>
          <p:nvPr/>
        </p:nvSpPr>
        <p:spPr>
          <a:xfrm>
            <a:off x="548640" y="3383280"/>
            <a:ext cx="3520440" cy="365760"/>
          </a:xfrm>
          <a:prstGeom prst="rect">
            <a:avLst/>
          </a:prstGeom>
          <a:noFill/>
          <a:ln/>
        </p:spPr>
        <p:txBody>
          <a:bodyPr wrap="square" lIns="0" tIns="0" rIns="0" bIns="0" rtlCol="0" anchor="ctr"/>
          <a:lstStyle/>
          <a:p>
            <a:pPr algn="ctr" indent="0" marL="0">
              <a:buNone/>
            </a:pPr>
            <a:r>
              <a:rPr lang="en-US" sz="1600" b="1" dirty="0">
                <a:solidFill>
                  <a:srgbClr val="1C2B1D"/>
                </a:solidFill>
                <a:latin typeface="Calibri" pitchFamily="34" charset="0"/>
                <a:ea typeface="Calibri" pitchFamily="34" charset="-122"/>
                <a:cs typeface="Calibri" pitchFamily="34" charset="-120"/>
              </a:rPr>
              <a:t>Bright dry midday</a:t>
            </a:r>
            <a:endParaRPr lang="en-US" sz="1600" dirty="0"/>
          </a:p>
        </p:txBody>
      </p:sp>
      <p:sp>
        <p:nvSpPr>
          <p:cNvPr id="9" name="Text 6"/>
          <p:cNvSpPr/>
          <p:nvPr/>
        </p:nvSpPr>
        <p:spPr>
          <a:xfrm>
            <a:off x="548640" y="3749040"/>
            <a:ext cx="3520440" cy="320040"/>
          </a:xfrm>
          <a:prstGeom prst="rect">
            <a:avLst/>
          </a:prstGeom>
          <a:noFill/>
          <a:ln/>
        </p:spPr>
        <p:txBody>
          <a:bodyPr wrap="square" lIns="0" tIns="0" rIns="0" bIns="0" rtlCol="0" anchor="ctr"/>
          <a:lstStyle/>
          <a:p>
            <a:pPr algn="ctr" indent="0" marL="0">
              <a:buNone/>
            </a:pPr>
            <a:r>
              <a:rPr lang="en-US" sz="1200" dirty="0">
                <a:solidFill>
                  <a:srgbClr val="5C6B5D"/>
                </a:solidFill>
                <a:latin typeface="Calibri" pitchFamily="34" charset="0"/>
                <a:ea typeface="Calibri" pitchFamily="34" charset="-122"/>
                <a:cs typeface="Calibri" pitchFamily="34" charset="-120"/>
              </a:rPr>
              <a:t>UV 9.2 · 38 °C · 32 % RH</a:t>
            </a:r>
            <a:endParaRPr lang="en-US" sz="1200" dirty="0"/>
          </a:p>
        </p:txBody>
      </p:sp>
      <p:sp>
        <p:nvSpPr>
          <p:cNvPr id="10" name="Shape 7"/>
          <p:cNvSpPr/>
          <p:nvPr/>
        </p:nvSpPr>
        <p:spPr>
          <a:xfrm>
            <a:off x="4370832" y="2148840"/>
            <a:ext cx="3520440" cy="2377440"/>
          </a:xfrm>
          <a:prstGeom prst="roundRect">
            <a:avLst>
              <a:gd name="adj" fmla="val 4615"/>
            </a:avLst>
          </a:prstGeom>
          <a:solidFill>
            <a:srgbClr val="E7F0E2"/>
          </a:solidFill>
          <a:ln/>
        </p:spPr>
      </p:sp>
      <p:sp>
        <p:nvSpPr>
          <p:cNvPr id="11" name="Text 8"/>
          <p:cNvSpPr/>
          <p:nvPr/>
        </p:nvSpPr>
        <p:spPr>
          <a:xfrm>
            <a:off x="4370832" y="2331720"/>
            <a:ext cx="3520440" cy="1005840"/>
          </a:xfrm>
          <a:prstGeom prst="rect">
            <a:avLst/>
          </a:prstGeom>
          <a:noFill/>
          <a:ln/>
        </p:spPr>
        <p:txBody>
          <a:bodyPr wrap="square" lIns="0" tIns="0" rIns="0" bIns="0" rtlCol="0" anchor="ctr"/>
          <a:lstStyle/>
          <a:p>
            <a:pPr algn="ctr" indent="0" marL="0">
              <a:buNone/>
            </a:pPr>
            <a:r>
              <a:rPr lang="en-US" sz="6000" b="1" dirty="0">
                <a:solidFill>
                  <a:srgbClr val="2C5F2D"/>
                </a:solidFill>
                <a:latin typeface="Cambria" pitchFamily="34" charset="0"/>
                <a:ea typeface="Cambria" pitchFamily="34" charset="-122"/>
                <a:cs typeface="Cambria" pitchFamily="34" charset="-120"/>
              </a:rPr>
              <a:t>37 h</a:t>
            </a:r>
            <a:endParaRPr lang="en-US" sz="6000" dirty="0"/>
          </a:p>
        </p:txBody>
      </p:sp>
      <p:sp>
        <p:nvSpPr>
          <p:cNvPr id="12" name="Text 9"/>
          <p:cNvSpPr/>
          <p:nvPr/>
        </p:nvSpPr>
        <p:spPr>
          <a:xfrm>
            <a:off x="4370832" y="3383280"/>
            <a:ext cx="3520440" cy="365760"/>
          </a:xfrm>
          <a:prstGeom prst="rect">
            <a:avLst/>
          </a:prstGeom>
          <a:noFill/>
          <a:ln/>
        </p:spPr>
        <p:txBody>
          <a:bodyPr wrap="square" lIns="0" tIns="0" rIns="0" bIns="0" rtlCol="0" anchor="ctr"/>
          <a:lstStyle/>
          <a:p>
            <a:pPr algn="ctr" indent="0" marL="0">
              <a:buNone/>
            </a:pPr>
            <a:r>
              <a:rPr lang="en-US" sz="1600" b="1" dirty="0">
                <a:solidFill>
                  <a:srgbClr val="1C2B1D"/>
                </a:solidFill>
                <a:latin typeface="Calibri" pitchFamily="34" charset="0"/>
                <a:ea typeface="Calibri" pitchFamily="34" charset="-122"/>
                <a:cs typeface="Calibri" pitchFamily="34" charset="-120"/>
              </a:rPr>
              <a:t>Overcast morning</a:t>
            </a:r>
            <a:endParaRPr lang="en-US" sz="1600" dirty="0"/>
          </a:p>
        </p:txBody>
      </p:sp>
      <p:sp>
        <p:nvSpPr>
          <p:cNvPr id="13" name="Text 10"/>
          <p:cNvSpPr/>
          <p:nvPr/>
        </p:nvSpPr>
        <p:spPr>
          <a:xfrm>
            <a:off x="4370832" y="3749040"/>
            <a:ext cx="3520440" cy="320040"/>
          </a:xfrm>
          <a:prstGeom prst="rect">
            <a:avLst/>
          </a:prstGeom>
          <a:noFill/>
          <a:ln/>
        </p:spPr>
        <p:txBody>
          <a:bodyPr wrap="square" lIns="0" tIns="0" rIns="0" bIns="0" rtlCol="0" anchor="ctr"/>
          <a:lstStyle/>
          <a:p>
            <a:pPr algn="ctr" indent="0" marL="0">
              <a:buNone/>
            </a:pPr>
            <a:r>
              <a:rPr lang="en-US" sz="1200" dirty="0">
                <a:solidFill>
                  <a:srgbClr val="5C6B5D"/>
                </a:solidFill>
                <a:latin typeface="Calibri" pitchFamily="34" charset="0"/>
                <a:ea typeface="Calibri" pitchFamily="34" charset="-122"/>
                <a:cs typeface="Calibri" pitchFamily="34" charset="-120"/>
              </a:rPr>
              <a:t>UV 2.1 · 24 °C · 75 % RH</a:t>
            </a:r>
            <a:endParaRPr lang="en-US" sz="1200" dirty="0"/>
          </a:p>
        </p:txBody>
      </p:sp>
      <p:sp>
        <p:nvSpPr>
          <p:cNvPr id="14" name="Shape 11"/>
          <p:cNvSpPr/>
          <p:nvPr/>
        </p:nvSpPr>
        <p:spPr>
          <a:xfrm>
            <a:off x="8193024" y="2148840"/>
            <a:ext cx="3520440" cy="2377440"/>
          </a:xfrm>
          <a:prstGeom prst="roundRect">
            <a:avLst>
              <a:gd name="adj" fmla="val 4615"/>
            </a:avLst>
          </a:prstGeom>
          <a:solidFill>
            <a:srgbClr val="E7F0E2"/>
          </a:solidFill>
          <a:ln/>
        </p:spPr>
      </p:sp>
      <p:sp>
        <p:nvSpPr>
          <p:cNvPr id="15" name="Text 12"/>
          <p:cNvSpPr/>
          <p:nvPr/>
        </p:nvSpPr>
        <p:spPr>
          <a:xfrm>
            <a:off x="8193024" y="2331720"/>
            <a:ext cx="3520440" cy="1005840"/>
          </a:xfrm>
          <a:prstGeom prst="rect">
            <a:avLst/>
          </a:prstGeom>
          <a:noFill/>
          <a:ln/>
        </p:spPr>
        <p:txBody>
          <a:bodyPr wrap="square" lIns="0" tIns="0" rIns="0" bIns="0" rtlCol="0" anchor="ctr"/>
          <a:lstStyle/>
          <a:p>
            <a:pPr algn="ctr" indent="0" marL="0">
              <a:buNone/>
            </a:pPr>
            <a:r>
              <a:rPr lang="en-US" sz="6000" b="1" dirty="0">
                <a:solidFill>
                  <a:srgbClr val="2C5F2D"/>
                </a:solidFill>
                <a:latin typeface="Cambria" pitchFamily="34" charset="0"/>
                <a:ea typeface="Cambria" pitchFamily="34" charset="-122"/>
                <a:cs typeface="Cambria" pitchFamily="34" charset="-120"/>
              </a:rPr>
              <a:t>72 h</a:t>
            </a:r>
            <a:endParaRPr lang="en-US" sz="6000" dirty="0"/>
          </a:p>
        </p:txBody>
      </p:sp>
      <p:sp>
        <p:nvSpPr>
          <p:cNvPr id="16" name="Text 13"/>
          <p:cNvSpPr/>
          <p:nvPr/>
        </p:nvSpPr>
        <p:spPr>
          <a:xfrm>
            <a:off x="8193024" y="3383280"/>
            <a:ext cx="3520440" cy="365760"/>
          </a:xfrm>
          <a:prstGeom prst="rect">
            <a:avLst/>
          </a:prstGeom>
          <a:noFill/>
          <a:ln/>
        </p:spPr>
        <p:txBody>
          <a:bodyPr wrap="square" lIns="0" tIns="0" rIns="0" bIns="0" rtlCol="0" anchor="ctr"/>
          <a:lstStyle/>
          <a:p>
            <a:pPr algn="ctr" indent="0" marL="0">
              <a:buNone/>
            </a:pPr>
            <a:r>
              <a:rPr lang="en-US" sz="1600" b="1" dirty="0">
                <a:solidFill>
                  <a:srgbClr val="1C2B1D"/>
                </a:solidFill>
                <a:latin typeface="Calibri" pitchFamily="34" charset="0"/>
                <a:ea typeface="Calibri" pitchFamily="34" charset="-122"/>
                <a:cs typeface="Calibri" pitchFamily="34" charset="-120"/>
              </a:rPr>
              <a:t>Night</a:t>
            </a:r>
            <a:endParaRPr lang="en-US" sz="1600" dirty="0"/>
          </a:p>
        </p:txBody>
      </p:sp>
      <p:sp>
        <p:nvSpPr>
          <p:cNvPr id="17" name="Text 14"/>
          <p:cNvSpPr/>
          <p:nvPr/>
        </p:nvSpPr>
        <p:spPr>
          <a:xfrm>
            <a:off x="8193024" y="3749040"/>
            <a:ext cx="3520440" cy="320040"/>
          </a:xfrm>
          <a:prstGeom prst="rect">
            <a:avLst/>
          </a:prstGeom>
          <a:noFill/>
          <a:ln/>
        </p:spPr>
        <p:txBody>
          <a:bodyPr wrap="square" lIns="0" tIns="0" rIns="0" bIns="0" rtlCol="0" anchor="ctr"/>
          <a:lstStyle/>
          <a:p>
            <a:pPr algn="ctr" indent="0" marL="0">
              <a:buNone/>
            </a:pPr>
            <a:r>
              <a:rPr lang="en-US" sz="1200" dirty="0">
                <a:solidFill>
                  <a:srgbClr val="5C6B5D"/>
                </a:solidFill>
                <a:latin typeface="Calibri" pitchFamily="34" charset="0"/>
                <a:ea typeface="Calibri" pitchFamily="34" charset="-122"/>
                <a:cs typeface="Calibri" pitchFamily="34" charset="-120"/>
              </a:rPr>
              <a:t>UV 0 · 18 °C · 85 % RH</a:t>
            </a:r>
            <a:endParaRPr lang="en-US" sz="1200" dirty="0"/>
          </a:p>
        </p:txBody>
      </p:sp>
      <p:sp>
        <p:nvSpPr>
          <p:cNvPr id="18" name="Text 15"/>
          <p:cNvSpPr/>
          <p:nvPr/>
        </p:nvSpPr>
        <p:spPr>
          <a:xfrm>
            <a:off x="548640" y="4983480"/>
            <a:ext cx="11091672" cy="822960"/>
          </a:xfrm>
          <a:prstGeom prst="rect">
            <a:avLst/>
          </a:prstGeom>
          <a:noFill/>
          <a:ln/>
        </p:spPr>
        <p:txBody>
          <a:bodyPr wrap="square" lIns="0" tIns="0" rIns="0" bIns="0" rtlCol="0" anchor="t"/>
          <a:lstStyle/>
          <a:p>
            <a:pPr algn="l" indent="0" marL="0">
              <a:buNone/>
            </a:pPr>
            <a:r>
              <a:rPr lang="en-US" sz="1600" b="1" dirty="0">
                <a:solidFill>
                  <a:srgbClr val="1C2B1D"/>
                </a:solidFill>
                <a:latin typeface="Calibri" pitchFamily="34" charset="0"/>
                <a:ea typeface="Calibri" pitchFamily="34" charset="-122"/>
                <a:cs typeface="Calibri" pitchFamily="34" charset="-120"/>
              </a:rPr>
              <a:t>Bt half-life on the leaf — an 8× swing in a single day. </a:t>
            </a:r>
            <a:pPr algn="l" indent="0" marL="0">
              <a:buNone/>
            </a:pPr>
            <a:r>
              <a:rPr lang="en-US" sz="1600" dirty="0">
                <a:solidFill>
                  <a:srgbClr val="1C2B1D"/>
                </a:solidFill>
                <a:latin typeface="Calibri" pitchFamily="34" charset="0"/>
                <a:ea typeface="Calibri" pitchFamily="34" charset="-122"/>
                <a:cs typeface="Calibri" pitchFamily="34" charset="-120"/>
              </a:rPr>
              <a:t>A tank mixed at dawn is largely spent by afternoon, so farmers spray more often: higher cost, and the biological advantage is lost anyway.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E7F0E2"/>
          </a:solidFill>
          <a:ln/>
        </p:spPr>
      </p:sp>
      <p:pic>
        <p:nvPicPr>
          <p:cNvPr id="3" name="Image 0" descr="preencoded.png">    </p:cNvPr>
          <p:cNvPicPr>
            <a:picLocks noChangeAspect="1"/>
          </p:cNvPicPr>
          <p:nvPr/>
        </p:nvPicPr>
        <p:blipFill>
          <a:blip r:embed="rId1"/>
          <a:stretch>
            <a:fillRect/>
          </a:stretch>
        </p:blipFill>
        <p:spPr>
          <a:xfrm>
            <a:off x="667512" y="576072"/>
            <a:ext cx="237744" cy="237744"/>
          </a:xfrm>
          <a:prstGeom prst="rect">
            <a:avLst/>
          </a:prstGeom>
        </p:spPr>
      </p:pic>
      <p:sp>
        <p:nvSpPr>
          <p:cNvPr id="4" name="Text 1"/>
          <p:cNvSpPr/>
          <p:nvPr/>
        </p:nvSpPr>
        <p:spPr>
          <a:xfrm>
            <a:off x="1170432" y="457200"/>
            <a:ext cx="7772400" cy="475488"/>
          </a:xfrm>
          <a:prstGeom prst="rect">
            <a:avLst/>
          </a:prstGeom>
          <a:noFill/>
          <a:ln/>
        </p:spPr>
        <p:txBody>
          <a:bodyPr wrap="square" lIns="0" tIns="0" rIns="0" bIns="0" rtlCol="0" anchor="ctr"/>
          <a:lstStyle/>
          <a:p>
            <a:pPr algn="l" indent="0" marL="0">
              <a:buNone/>
            </a:pPr>
            <a:r>
              <a:rPr lang="en-US" sz="1300" b="1" spc="300" kern="0" dirty="0">
                <a:solidFill>
                  <a:srgbClr val="2C5F2D"/>
                </a:solidFill>
                <a:latin typeface="Calibri" pitchFamily="34" charset="0"/>
                <a:ea typeface="Calibri" pitchFamily="34" charset="-122"/>
                <a:cs typeface="Calibri" pitchFamily="34" charset="-120"/>
              </a:rPr>
              <a:t>SCOPE</a:t>
            </a:r>
            <a:endParaRPr lang="en-US" sz="1300" dirty="0"/>
          </a:p>
        </p:txBody>
      </p:sp>
      <p:sp>
        <p:nvSpPr>
          <p:cNvPr id="5" name="Text 2"/>
          <p:cNvSpPr/>
          <p:nvPr/>
        </p:nvSpPr>
        <p:spPr>
          <a:xfrm>
            <a:off x="548640" y="1024128"/>
            <a:ext cx="11064240" cy="777240"/>
          </a:xfrm>
          <a:prstGeom prst="rect">
            <a:avLst/>
          </a:prstGeom>
          <a:noFill/>
          <a:ln/>
        </p:spPr>
        <p:txBody>
          <a:bodyPr wrap="square" lIns="0" tIns="0" rIns="0" bIns="0" rtlCol="0" anchor="t"/>
          <a:lstStyle/>
          <a:p>
            <a:pPr algn="l" indent="0" marL="0">
              <a:buNone/>
            </a:pPr>
            <a:r>
              <a:rPr lang="en-US" sz="3800" b="1" dirty="0">
                <a:solidFill>
                  <a:srgbClr val="1C2B1D"/>
                </a:solidFill>
                <a:latin typeface="Cambria" pitchFamily="34" charset="0"/>
                <a:ea typeface="Cambria" pitchFamily="34" charset="-122"/>
                <a:cs typeface="Cambria" pitchFamily="34" charset="-120"/>
              </a:rPr>
              <a:t>Not a platform. One decision.</a:t>
            </a:r>
            <a:endParaRPr lang="en-US" sz="3800" dirty="0"/>
          </a:p>
        </p:txBody>
      </p:sp>
      <p:pic>
        <p:nvPicPr>
          <p:cNvPr id="6" name="Image 1" descr="/home/usman/Projects/AgriAgent/docs/presentation/assets/overview.png">    </p:cNvPr>
          <p:cNvPicPr>
            <a:picLocks noChangeAspect="1"/>
          </p:cNvPicPr>
          <p:nvPr/>
        </p:nvPicPr>
        <p:blipFill>
          <a:blip r:embed="rId2"/>
          <a:stretch>
            <a:fillRect/>
          </a:stretch>
        </p:blipFill>
        <p:spPr>
          <a:xfrm>
            <a:off x="548640" y="1920240"/>
            <a:ext cx="11091672" cy="2645590"/>
          </a:xfrm>
          <a:prstGeom prst="rect">
            <a:avLst/>
          </a:prstGeom>
        </p:spPr>
      </p:pic>
      <p:sp>
        <p:nvSpPr>
          <p:cNvPr id="7" name="Shape 3"/>
          <p:cNvSpPr/>
          <p:nvPr/>
        </p:nvSpPr>
        <p:spPr>
          <a:xfrm>
            <a:off x="548640" y="4709160"/>
            <a:ext cx="3520440" cy="1691640"/>
          </a:xfrm>
          <a:prstGeom prst="roundRect">
            <a:avLst>
              <a:gd name="adj" fmla="val 6486"/>
            </a:avLst>
          </a:prstGeom>
          <a:solidFill>
            <a:srgbClr val="E7F0E2"/>
          </a:solidFill>
          <a:ln/>
        </p:spPr>
      </p:sp>
      <p:sp>
        <p:nvSpPr>
          <p:cNvPr id="8" name="Text 4"/>
          <p:cNvSpPr/>
          <p:nvPr/>
        </p:nvSpPr>
        <p:spPr>
          <a:xfrm>
            <a:off x="777240" y="4892040"/>
            <a:ext cx="3063240" cy="365760"/>
          </a:xfrm>
          <a:prstGeom prst="rect">
            <a:avLst/>
          </a:prstGeom>
          <a:noFill/>
          <a:ln/>
        </p:spPr>
        <p:txBody>
          <a:bodyPr wrap="square" lIns="0" tIns="0" rIns="0" bIns="0" rtlCol="0" anchor="t"/>
          <a:lstStyle/>
          <a:p>
            <a:pPr algn="l" indent="0" marL="0">
              <a:buNone/>
            </a:pPr>
            <a:r>
              <a:rPr lang="en-US" sz="1600" b="1" dirty="0">
                <a:solidFill>
                  <a:srgbClr val="2C5F2D"/>
                </a:solidFill>
                <a:latin typeface="Calibri" pitchFamily="34" charset="0"/>
                <a:ea typeface="Calibri" pitchFamily="34" charset="-122"/>
                <a:cs typeface="Calibri" pitchFamily="34" charset="-120"/>
              </a:rPr>
              <a:t>Minimum data</a:t>
            </a:r>
            <a:endParaRPr lang="en-US" sz="1600" dirty="0"/>
          </a:p>
        </p:txBody>
      </p:sp>
      <p:sp>
        <p:nvSpPr>
          <p:cNvPr id="9" name="Text 5"/>
          <p:cNvSpPr/>
          <p:nvPr/>
        </p:nvSpPr>
        <p:spPr>
          <a:xfrm>
            <a:off x="777240" y="5285232"/>
            <a:ext cx="3063240" cy="1005840"/>
          </a:xfrm>
          <a:prstGeom prst="rect">
            <a:avLst/>
          </a:prstGeom>
          <a:noFill/>
          <a:ln/>
        </p:spPr>
        <p:txBody>
          <a:bodyPr wrap="square" lIns="0" tIns="0" rIns="0" bIns="0" rtlCol="0" anchor="t"/>
          <a:lstStyle/>
          <a:p>
            <a:pPr algn="l" indent="0" marL="0">
              <a:buNone/>
            </a:pPr>
            <a:r>
              <a:rPr lang="en-US" sz="1250" dirty="0">
                <a:solidFill>
                  <a:srgbClr val="1C2B1D"/>
                </a:solidFill>
                <a:latin typeface="Calibri" pitchFamily="34" charset="0"/>
                <a:ea typeface="Calibri" pitchFamily="34" charset="-122"/>
                <a:cs typeface="Calibri" pitchFamily="34" charset="-120"/>
              </a:rPr>
              <a:t>UV index, temperature, humidity — pulled from live weather. Farmers never hand-enter data.</a:t>
            </a:r>
            <a:endParaRPr lang="en-US" sz="1250" dirty="0"/>
          </a:p>
        </p:txBody>
      </p:sp>
      <p:sp>
        <p:nvSpPr>
          <p:cNvPr id="10" name="Shape 6"/>
          <p:cNvSpPr/>
          <p:nvPr/>
        </p:nvSpPr>
        <p:spPr>
          <a:xfrm>
            <a:off x="4370832" y="4709160"/>
            <a:ext cx="3520440" cy="1691640"/>
          </a:xfrm>
          <a:prstGeom prst="roundRect">
            <a:avLst>
              <a:gd name="adj" fmla="val 6486"/>
            </a:avLst>
          </a:prstGeom>
          <a:solidFill>
            <a:srgbClr val="E7F0E2"/>
          </a:solidFill>
          <a:ln/>
        </p:spPr>
      </p:sp>
      <p:sp>
        <p:nvSpPr>
          <p:cNvPr id="11" name="Text 7"/>
          <p:cNvSpPr/>
          <p:nvPr/>
        </p:nvSpPr>
        <p:spPr>
          <a:xfrm>
            <a:off x="4599432" y="4892040"/>
            <a:ext cx="3063240" cy="365760"/>
          </a:xfrm>
          <a:prstGeom prst="rect">
            <a:avLst/>
          </a:prstGeom>
          <a:noFill/>
          <a:ln/>
        </p:spPr>
        <p:txBody>
          <a:bodyPr wrap="square" lIns="0" tIns="0" rIns="0" bIns="0" rtlCol="0" anchor="t"/>
          <a:lstStyle/>
          <a:p>
            <a:pPr algn="l" indent="0" marL="0">
              <a:buNone/>
            </a:pPr>
            <a:r>
              <a:rPr lang="en-US" sz="1600" b="1" dirty="0">
                <a:solidFill>
                  <a:srgbClr val="2C5F2D"/>
                </a:solidFill>
                <a:latin typeface="Calibri" pitchFamily="34" charset="0"/>
                <a:ea typeface="Calibri" pitchFamily="34" charset="-122"/>
                <a:cs typeface="Calibri" pitchFamily="34" charset="-120"/>
              </a:rPr>
              <a:t>Actionable output</a:t>
            </a:r>
            <a:endParaRPr lang="en-US" sz="1600" dirty="0"/>
          </a:p>
        </p:txBody>
      </p:sp>
      <p:sp>
        <p:nvSpPr>
          <p:cNvPr id="12" name="Text 8"/>
          <p:cNvSpPr/>
          <p:nvPr/>
        </p:nvSpPr>
        <p:spPr>
          <a:xfrm>
            <a:off x="4599432" y="5285232"/>
            <a:ext cx="3063240" cy="1005840"/>
          </a:xfrm>
          <a:prstGeom prst="rect">
            <a:avLst/>
          </a:prstGeom>
          <a:noFill/>
          <a:ln/>
        </p:spPr>
        <p:txBody>
          <a:bodyPr wrap="square" lIns="0" tIns="0" rIns="0" bIns="0" rtlCol="0" anchor="t"/>
          <a:lstStyle/>
          <a:p>
            <a:pPr algn="l" indent="0" marL="0">
              <a:buNone/>
            </a:pPr>
            <a:r>
              <a:rPr lang="en-US" sz="1250" dirty="0">
                <a:solidFill>
                  <a:srgbClr val="1C2B1D"/>
                </a:solidFill>
                <a:latin typeface="Calibri" pitchFamily="34" charset="0"/>
                <a:ea typeface="Calibri" pitchFamily="34" charset="-122"/>
                <a:cs typeface="Calibri" pitchFamily="34" charset="-120"/>
              </a:rPr>
              <a:t>One MQTT payload: recipe → safety gate → exact pump volumes → the twin dispenses them.</a:t>
            </a:r>
            <a:endParaRPr lang="en-US" sz="1250" dirty="0"/>
          </a:p>
        </p:txBody>
      </p:sp>
      <p:sp>
        <p:nvSpPr>
          <p:cNvPr id="13" name="Shape 9"/>
          <p:cNvSpPr/>
          <p:nvPr/>
        </p:nvSpPr>
        <p:spPr>
          <a:xfrm>
            <a:off x="8193024" y="4709160"/>
            <a:ext cx="3520440" cy="1691640"/>
          </a:xfrm>
          <a:prstGeom prst="roundRect">
            <a:avLst>
              <a:gd name="adj" fmla="val 6486"/>
            </a:avLst>
          </a:prstGeom>
          <a:solidFill>
            <a:srgbClr val="E7F0E2"/>
          </a:solidFill>
          <a:ln/>
        </p:spPr>
      </p:sp>
      <p:sp>
        <p:nvSpPr>
          <p:cNvPr id="14" name="Text 10"/>
          <p:cNvSpPr/>
          <p:nvPr/>
        </p:nvSpPr>
        <p:spPr>
          <a:xfrm>
            <a:off x="8421624" y="4892040"/>
            <a:ext cx="3063240" cy="365760"/>
          </a:xfrm>
          <a:prstGeom prst="rect">
            <a:avLst/>
          </a:prstGeom>
          <a:noFill/>
          <a:ln/>
        </p:spPr>
        <p:txBody>
          <a:bodyPr wrap="square" lIns="0" tIns="0" rIns="0" bIns="0" rtlCol="0" anchor="t"/>
          <a:lstStyle/>
          <a:p>
            <a:pPr algn="l" indent="0" marL="0">
              <a:buNone/>
            </a:pPr>
            <a:r>
              <a:rPr lang="en-US" sz="1600" b="1" dirty="0">
                <a:solidFill>
                  <a:srgbClr val="2C5F2D"/>
                </a:solidFill>
                <a:latin typeface="Calibri" pitchFamily="34" charset="0"/>
                <a:ea typeface="Calibri" pitchFamily="34" charset="-122"/>
                <a:cs typeface="Calibri" pitchFamily="34" charset="-120"/>
              </a:rPr>
              <a:t>Validated savings</a:t>
            </a:r>
            <a:endParaRPr lang="en-US" sz="1600" dirty="0"/>
          </a:p>
        </p:txBody>
      </p:sp>
      <p:sp>
        <p:nvSpPr>
          <p:cNvPr id="15" name="Text 11"/>
          <p:cNvSpPr/>
          <p:nvPr/>
        </p:nvSpPr>
        <p:spPr>
          <a:xfrm>
            <a:off x="8421624" y="5285232"/>
            <a:ext cx="3063240" cy="1005840"/>
          </a:xfrm>
          <a:prstGeom prst="rect">
            <a:avLst/>
          </a:prstGeom>
          <a:noFill/>
          <a:ln/>
        </p:spPr>
        <p:txBody>
          <a:bodyPr wrap="square" lIns="0" tIns="0" rIns="0" bIns="0" rtlCol="0" anchor="t"/>
          <a:lstStyle/>
          <a:p>
            <a:pPr algn="l" indent="0" marL="0">
              <a:buNone/>
            </a:pPr>
            <a:r>
              <a:rPr lang="en-US" sz="1250" dirty="0">
                <a:solidFill>
                  <a:srgbClr val="1C2B1D"/>
                </a:solidFill>
                <a:latin typeface="Calibri" pitchFamily="34" charset="0"/>
                <a:ea typeface="Calibri" pitchFamily="34" charset="-122"/>
                <a:cs typeface="Calibri" pitchFamily="34" charset="-120"/>
              </a:rPr>
              <a:t>Kinetics models tie the dynamic mix to the 90 % synthetic-volume-reduction target.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E7F0E2"/>
          </a:solidFill>
          <a:ln/>
        </p:spPr>
      </p:sp>
      <p:pic>
        <p:nvPicPr>
          <p:cNvPr id="3" name="Image 0" descr="preencoded.png">    </p:cNvPr>
          <p:cNvPicPr>
            <a:picLocks noChangeAspect="1"/>
          </p:cNvPicPr>
          <p:nvPr/>
        </p:nvPicPr>
        <p:blipFill>
          <a:blip r:embed="rId1"/>
          <a:stretch>
            <a:fillRect/>
          </a:stretch>
        </p:blipFill>
        <p:spPr>
          <a:xfrm>
            <a:off x="667512" y="576072"/>
            <a:ext cx="237744" cy="237744"/>
          </a:xfrm>
          <a:prstGeom prst="rect">
            <a:avLst/>
          </a:prstGeom>
        </p:spPr>
      </p:pic>
      <p:sp>
        <p:nvSpPr>
          <p:cNvPr id="4" name="Text 1"/>
          <p:cNvSpPr/>
          <p:nvPr/>
        </p:nvSpPr>
        <p:spPr>
          <a:xfrm>
            <a:off x="1170432" y="457200"/>
            <a:ext cx="7772400" cy="475488"/>
          </a:xfrm>
          <a:prstGeom prst="rect">
            <a:avLst/>
          </a:prstGeom>
          <a:noFill/>
          <a:ln/>
        </p:spPr>
        <p:txBody>
          <a:bodyPr wrap="square" lIns="0" tIns="0" rIns="0" bIns="0" rtlCol="0" anchor="ctr"/>
          <a:lstStyle/>
          <a:p>
            <a:pPr algn="l" indent="0" marL="0">
              <a:buNone/>
            </a:pPr>
            <a:r>
              <a:rPr lang="en-US" sz="1300" b="1" spc="300" kern="0" dirty="0">
                <a:solidFill>
                  <a:srgbClr val="2C5F2D"/>
                </a:solidFill>
                <a:latin typeface="Calibri" pitchFamily="34" charset="0"/>
                <a:ea typeface="Calibri" pitchFamily="34" charset="-122"/>
                <a:cs typeface="Calibri" pitchFamily="34" charset="-120"/>
              </a:rPr>
              <a:t>ARCHITECTURE</a:t>
            </a:r>
            <a:endParaRPr lang="en-US" sz="1300" dirty="0"/>
          </a:p>
        </p:txBody>
      </p:sp>
      <p:sp>
        <p:nvSpPr>
          <p:cNvPr id="5" name="Text 2"/>
          <p:cNvSpPr/>
          <p:nvPr/>
        </p:nvSpPr>
        <p:spPr>
          <a:xfrm>
            <a:off x="548640" y="1024128"/>
            <a:ext cx="11064240" cy="777240"/>
          </a:xfrm>
          <a:prstGeom prst="rect">
            <a:avLst/>
          </a:prstGeom>
          <a:noFill/>
          <a:ln/>
        </p:spPr>
        <p:txBody>
          <a:bodyPr wrap="square" lIns="0" tIns="0" rIns="0" bIns="0" rtlCol="0" anchor="t"/>
          <a:lstStyle/>
          <a:p>
            <a:pPr algn="l" indent="0" marL="0">
              <a:buNone/>
            </a:pPr>
            <a:r>
              <a:rPr lang="en-US" sz="3800" b="1" dirty="0">
                <a:solidFill>
                  <a:srgbClr val="1C2B1D"/>
                </a:solidFill>
                <a:latin typeface="Cambria" pitchFamily="34" charset="0"/>
                <a:ea typeface="Cambria" pitchFamily="34" charset="-122"/>
                <a:cs typeface="Cambria" pitchFamily="34" charset="-120"/>
              </a:rPr>
              <a:t>The LLM picks the tool. Python does the math.</a:t>
            </a:r>
            <a:endParaRPr lang="en-US" sz="3800" dirty="0"/>
          </a:p>
        </p:txBody>
      </p:sp>
      <p:pic>
        <p:nvPicPr>
          <p:cNvPr id="6" name="Image 1" descr="/home/usman/Projects/AgriAgent/docs/presentation/assets/agent-runtime-deck.png">    </p:cNvPr>
          <p:cNvPicPr>
            <a:picLocks noChangeAspect="1"/>
          </p:cNvPicPr>
          <p:nvPr/>
        </p:nvPicPr>
        <p:blipFill>
          <a:blip r:embed="rId2"/>
          <a:stretch>
            <a:fillRect/>
          </a:stretch>
        </p:blipFill>
        <p:spPr>
          <a:xfrm>
            <a:off x="548640" y="1965960"/>
            <a:ext cx="6766560" cy="4073745"/>
          </a:xfrm>
          <a:prstGeom prst="rect">
            <a:avLst/>
          </a:prstGeom>
        </p:spPr>
      </p:pic>
      <p:sp>
        <p:nvSpPr>
          <p:cNvPr id="7" name="Shape 3"/>
          <p:cNvSpPr/>
          <p:nvPr/>
        </p:nvSpPr>
        <p:spPr>
          <a:xfrm>
            <a:off x="7635240" y="2157984"/>
            <a:ext cx="146304" cy="146304"/>
          </a:xfrm>
          <a:prstGeom prst="ellipse">
            <a:avLst/>
          </a:prstGeom>
          <a:solidFill>
            <a:srgbClr val="97BC62"/>
          </a:solidFill>
          <a:ln/>
        </p:spPr>
      </p:sp>
      <p:sp>
        <p:nvSpPr>
          <p:cNvPr id="8" name="Text 4"/>
          <p:cNvSpPr/>
          <p:nvPr/>
        </p:nvSpPr>
        <p:spPr>
          <a:xfrm>
            <a:off x="7927848" y="2103120"/>
            <a:ext cx="3703320" cy="292608"/>
          </a:xfrm>
          <a:prstGeom prst="rect">
            <a:avLst/>
          </a:prstGeom>
          <a:noFill/>
          <a:ln/>
        </p:spPr>
        <p:txBody>
          <a:bodyPr wrap="square" lIns="0" tIns="0" rIns="0" bIns="0" rtlCol="0" anchor="t"/>
          <a:lstStyle/>
          <a:p>
            <a:pPr algn="l" indent="0" marL="0">
              <a:buNone/>
            </a:pPr>
            <a:r>
              <a:rPr lang="en-US" sz="1500" b="1" dirty="0">
                <a:solidFill>
                  <a:srgbClr val="2C5F2D"/>
                </a:solidFill>
                <a:latin typeface="Calibri" pitchFamily="34" charset="0"/>
                <a:ea typeface="Calibri" pitchFamily="34" charset="-122"/>
                <a:cs typeface="Calibri" pitchFamily="34" charset="-120"/>
              </a:rPr>
              <a:t>Perception</a:t>
            </a:r>
            <a:endParaRPr lang="en-US" sz="1500" dirty="0"/>
          </a:p>
        </p:txBody>
      </p:sp>
      <p:sp>
        <p:nvSpPr>
          <p:cNvPr id="9" name="Text 5"/>
          <p:cNvSpPr/>
          <p:nvPr/>
        </p:nvSpPr>
        <p:spPr>
          <a:xfrm>
            <a:off x="7927848" y="2395728"/>
            <a:ext cx="3703320" cy="548640"/>
          </a:xfrm>
          <a:prstGeom prst="rect">
            <a:avLst/>
          </a:prstGeom>
          <a:noFill/>
          <a:ln/>
        </p:spPr>
        <p:txBody>
          <a:bodyPr wrap="square" lIns="0" tIns="0" rIns="0" bIns="0" rtlCol="0" anchor="t"/>
          <a:lstStyle/>
          <a:p>
            <a:pPr algn="l" indent="0" marL="0">
              <a:buNone/>
            </a:pPr>
            <a:r>
              <a:rPr lang="en-US" sz="1250" dirty="0">
                <a:solidFill>
                  <a:srgbClr val="1C2B1D"/>
                </a:solidFill>
                <a:latin typeface="Calibri" pitchFamily="34" charset="0"/>
                <a:ea typeface="Calibri" pitchFamily="34" charset="-122"/>
                <a:cs typeface="Calibri" pitchFamily="34" charset="-120"/>
              </a:rPr>
              <a:t>reads telemetry, computes the degradation half-life</a:t>
            </a:r>
            <a:endParaRPr lang="en-US" sz="1250" dirty="0"/>
          </a:p>
        </p:txBody>
      </p:sp>
      <p:sp>
        <p:nvSpPr>
          <p:cNvPr id="10" name="Shape 6"/>
          <p:cNvSpPr/>
          <p:nvPr/>
        </p:nvSpPr>
        <p:spPr>
          <a:xfrm>
            <a:off x="7635240" y="3090672"/>
            <a:ext cx="146304" cy="146304"/>
          </a:xfrm>
          <a:prstGeom prst="ellipse">
            <a:avLst/>
          </a:prstGeom>
          <a:solidFill>
            <a:srgbClr val="97BC62"/>
          </a:solidFill>
          <a:ln/>
        </p:spPr>
      </p:sp>
      <p:sp>
        <p:nvSpPr>
          <p:cNvPr id="11" name="Text 7"/>
          <p:cNvSpPr/>
          <p:nvPr/>
        </p:nvSpPr>
        <p:spPr>
          <a:xfrm>
            <a:off x="7927848" y="3035808"/>
            <a:ext cx="3703320" cy="292608"/>
          </a:xfrm>
          <a:prstGeom prst="rect">
            <a:avLst/>
          </a:prstGeom>
          <a:noFill/>
          <a:ln/>
        </p:spPr>
        <p:txBody>
          <a:bodyPr wrap="square" lIns="0" tIns="0" rIns="0" bIns="0" rtlCol="0" anchor="t"/>
          <a:lstStyle/>
          <a:p>
            <a:pPr algn="l" indent="0" marL="0">
              <a:buNone/>
            </a:pPr>
            <a:r>
              <a:rPr lang="en-US" sz="1500" b="1" dirty="0">
                <a:solidFill>
                  <a:srgbClr val="2C5F2D"/>
                </a:solidFill>
                <a:latin typeface="Calibri" pitchFamily="34" charset="0"/>
                <a:ea typeface="Calibri" pitchFamily="34" charset="-122"/>
                <a:cs typeface="Calibri" pitchFamily="34" charset="-120"/>
              </a:rPr>
              <a:t>Formulation</a:t>
            </a:r>
            <a:endParaRPr lang="en-US" sz="1500" dirty="0"/>
          </a:p>
        </p:txBody>
      </p:sp>
      <p:sp>
        <p:nvSpPr>
          <p:cNvPr id="12" name="Text 8"/>
          <p:cNvSpPr/>
          <p:nvPr/>
        </p:nvSpPr>
        <p:spPr>
          <a:xfrm>
            <a:off x="7927848" y="3328416"/>
            <a:ext cx="3703320" cy="548640"/>
          </a:xfrm>
          <a:prstGeom prst="rect">
            <a:avLst/>
          </a:prstGeom>
          <a:noFill/>
          <a:ln/>
        </p:spPr>
        <p:txBody>
          <a:bodyPr wrap="square" lIns="0" tIns="0" rIns="0" bIns="0" rtlCol="0" anchor="t"/>
          <a:lstStyle/>
          <a:p>
            <a:pPr algn="l" indent="0" marL="0">
              <a:buNone/>
            </a:pPr>
            <a:r>
              <a:rPr lang="en-US" sz="1250" dirty="0">
                <a:solidFill>
                  <a:srgbClr val="1C2B1D"/>
                </a:solidFill>
                <a:latin typeface="Calibri" pitchFamily="34" charset="0"/>
                <a:ea typeface="Calibri" pitchFamily="34" charset="-122"/>
                <a:cs typeface="Calibri" pitchFamily="34" charset="-120"/>
              </a:rPr>
              <a:t>exact litre setpoints for all four channels</a:t>
            </a:r>
            <a:endParaRPr lang="en-US" sz="1250" dirty="0"/>
          </a:p>
        </p:txBody>
      </p:sp>
      <p:sp>
        <p:nvSpPr>
          <p:cNvPr id="13" name="Shape 9"/>
          <p:cNvSpPr/>
          <p:nvPr/>
        </p:nvSpPr>
        <p:spPr>
          <a:xfrm>
            <a:off x="7635240" y="4023360"/>
            <a:ext cx="146304" cy="146304"/>
          </a:xfrm>
          <a:prstGeom prst="ellipse">
            <a:avLst/>
          </a:prstGeom>
          <a:solidFill>
            <a:srgbClr val="97BC62"/>
          </a:solidFill>
          <a:ln/>
        </p:spPr>
      </p:sp>
      <p:sp>
        <p:nvSpPr>
          <p:cNvPr id="14" name="Text 10"/>
          <p:cNvSpPr/>
          <p:nvPr/>
        </p:nvSpPr>
        <p:spPr>
          <a:xfrm>
            <a:off x="7927848" y="3968496"/>
            <a:ext cx="3703320" cy="292608"/>
          </a:xfrm>
          <a:prstGeom prst="rect">
            <a:avLst/>
          </a:prstGeom>
          <a:noFill/>
          <a:ln/>
        </p:spPr>
        <p:txBody>
          <a:bodyPr wrap="square" lIns="0" tIns="0" rIns="0" bIns="0" rtlCol="0" anchor="t"/>
          <a:lstStyle/>
          <a:p>
            <a:pPr algn="l" indent="0" marL="0">
              <a:buNone/>
            </a:pPr>
            <a:r>
              <a:rPr lang="en-US" sz="1500" b="1" dirty="0">
                <a:solidFill>
                  <a:srgbClr val="2C5F2D"/>
                </a:solidFill>
                <a:latin typeface="Calibri" pitchFamily="34" charset="0"/>
                <a:ea typeface="Calibri" pitchFamily="34" charset="-122"/>
                <a:cs typeface="Calibri" pitchFamily="34" charset="-120"/>
              </a:rPr>
              <a:t>Safety</a:t>
            </a:r>
            <a:endParaRPr lang="en-US" sz="1500" dirty="0"/>
          </a:p>
        </p:txBody>
      </p:sp>
      <p:sp>
        <p:nvSpPr>
          <p:cNvPr id="15" name="Text 11"/>
          <p:cNvSpPr/>
          <p:nvPr/>
        </p:nvSpPr>
        <p:spPr>
          <a:xfrm>
            <a:off x="7927848" y="4261104"/>
            <a:ext cx="3703320" cy="548640"/>
          </a:xfrm>
          <a:prstGeom prst="rect">
            <a:avLst/>
          </a:prstGeom>
          <a:noFill/>
          <a:ln/>
        </p:spPr>
        <p:txBody>
          <a:bodyPr wrap="square" lIns="0" tIns="0" rIns="0" bIns="0" rtlCol="0" anchor="t"/>
          <a:lstStyle/>
          <a:p>
            <a:pPr algn="l" indent="0" marL="0">
              <a:buNone/>
            </a:pPr>
            <a:r>
              <a:rPr lang="en-US" sz="1250" dirty="0">
                <a:solidFill>
                  <a:srgbClr val="1C2B1D"/>
                </a:solidFill>
                <a:latin typeface="Calibri" pitchFamily="34" charset="0"/>
                <a:ea typeface="Calibri" pitchFamily="34" charset="-122"/>
                <a:cs typeface="Calibri" pitchFamily="34" charset="-120"/>
              </a:rPr>
              <a:t>machine-readable rejections — nothing unsafe is published</a:t>
            </a:r>
            <a:endParaRPr lang="en-US" sz="1250" dirty="0"/>
          </a:p>
        </p:txBody>
      </p:sp>
      <p:sp>
        <p:nvSpPr>
          <p:cNvPr id="16" name="Shape 12"/>
          <p:cNvSpPr/>
          <p:nvPr/>
        </p:nvSpPr>
        <p:spPr>
          <a:xfrm>
            <a:off x="7635240" y="4956048"/>
            <a:ext cx="146304" cy="146304"/>
          </a:xfrm>
          <a:prstGeom prst="ellipse">
            <a:avLst/>
          </a:prstGeom>
          <a:solidFill>
            <a:srgbClr val="97BC62"/>
          </a:solidFill>
          <a:ln/>
        </p:spPr>
      </p:sp>
      <p:sp>
        <p:nvSpPr>
          <p:cNvPr id="17" name="Text 13"/>
          <p:cNvSpPr/>
          <p:nvPr/>
        </p:nvSpPr>
        <p:spPr>
          <a:xfrm>
            <a:off x="7927848" y="4901184"/>
            <a:ext cx="3703320" cy="292608"/>
          </a:xfrm>
          <a:prstGeom prst="rect">
            <a:avLst/>
          </a:prstGeom>
          <a:noFill/>
          <a:ln/>
        </p:spPr>
        <p:txBody>
          <a:bodyPr wrap="square" lIns="0" tIns="0" rIns="0" bIns="0" rtlCol="0" anchor="t"/>
          <a:lstStyle/>
          <a:p>
            <a:pPr algn="l" indent="0" marL="0">
              <a:buNone/>
            </a:pPr>
            <a:r>
              <a:rPr lang="en-US" sz="1500" b="1" dirty="0">
                <a:solidFill>
                  <a:srgbClr val="2C5F2D"/>
                </a:solidFill>
                <a:latin typeface="Calibri" pitchFamily="34" charset="0"/>
                <a:ea typeface="Calibri" pitchFamily="34" charset="-122"/>
                <a:cs typeface="Calibri" pitchFamily="34" charset="-120"/>
              </a:rPr>
              <a:t>SCADA</a:t>
            </a:r>
            <a:endParaRPr lang="en-US" sz="1500" dirty="0"/>
          </a:p>
        </p:txBody>
      </p:sp>
      <p:sp>
        <p:nvSpPr>
          <p:cNvPr id="18" name="Text 14"/>
          <p:cNvSpPr/>
          <p:nvPr/>
        </p:nvSpPr>
        <p:spPr>
          <a:xfrm>
            <a:off x="7927848" y="5193792"/>
            <a:ext cx="3703320" cy="548640"/>
          </a:xfrm>
          <a:prstGeom prst="rect">
            <a:avLst/>
          </a:prstGeom>
          <a:noFill/>
          <a:ln/>
        </p:spPr>
        <p:txBody>
          <a:bodyPr wrap="square" lIns="0" tIns="0" rIns="0" bIns="0" rtlCol="0" anchor="t"/>
          <a:lstStyle/>
          <a:p>
            <a:pPr algn="l" indent="0" marL="0">
              <a:buNone/>
            </a:pPr>
            <a:r>
              <a:rPr lang="en-US" sz="1250" dirty="0">
                <a:solidFill>
                  <a:srgbClr val="1C2B1D"/>
                </a:solidFill>
                <a:latin typeface="Calibri" pitchFamily="34" charset="0"/>
                <a:ea typeface="Calibri" pitchFamily="34" charset="-122"/>
                <a:cs typeface="Calibri" pitchFamily="34" charset="-120"/>
              </a:rPr>
              <a:t>pump runtimes, MQTT dispatch at QoS 1</a:t>
            </a:r>
            <a:endParaRPr lang="en-US" sz="1250" dirty="0"/>
          </a:p>
        </p:txBody>
      </p:sp>
      <p:sp>
        <p:nvSpPr>
          <p:cNvPr id="19" name="Text 15"/>
          <p:cNvSpPr/>
          <p:nvPr/>
        </p:nvSpPr>
        <p:spPr>
          <a:xfrm>
            <a:off x="548640" y="6263640"/>
            <a:ext cx="11091672" cy="365760"/>
          </a:xfrm>
          <a:prstGeom prst="rect">
            <a:avLst/>
          </a:prstGeom>
          <a:noFill/>
          <a:ln/>
        </p:spPr>
        <p:txBody>
          <a:bodyPr wrap="square" lIns="0" tIns="0" rIns="0" bIns="0" rtlCol="0" anchor="ctr"/>
          <a:lstStyle/>
          <a:p>
            <a:pPr algn="l" indent="0" marL="0">
              <a:buNone/>
            </a:pPr>
            <a:r>
              <a:rPr lang="en-US" sz="1200" i="1" dirty="0">
                <a:solidFill>
                  <a:srgbClr val="5C6B5D"/>
                </a:solidFill>
                <a:latin typeface="Calibri" pitchFamily="34" charset="0"/>
                <a:ea typeface="Calibri" pitchFamily="34" charset="-122"/>
                <a:cs typeface="Calibri" pitchFamily="34" charset="-120"/>
              </a:rPr>
              <a:t>OpenAI Agents SDK · native handoffs · every number from deterministic engines — the model never does arithmetic</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E7F0E2"/>
          </a:solidFill>
          <a:ln/>
        </p:spPr>
      </p:sp>
      <p:pic>
        <p:nvPicPr>
          <p:cNvPr id="3" name="Image 0" descr="preencoded.png">    </p:cNvPr>
          <p:cNvPicPr>
            <a:picLocks noChangeAspect="1"/>
          </p:cNvPicPr>
          <p:nvPr/>
        </p:nvPicPr>
        <p:blipFill>
          <a:blip r:embed="rId1"/>
          <a:stretch>
            <a:fillRect/>
          </a:stretch>
        </p:blipFill>
        <p:spPr>
          <a:xfrm>
            <a:off x="667512" y="576072"/>
            <a:ext cx="237744" cy="237744"/>
          </a:xfrm>
          <a:prstGeom prst="rect">
            <a:avLst/>
          </a:prstGeom>
        </p:spPr>
      </p:pic>
      <p:sp>
        <p:nvSpPr>
          <p:cNvPr id="4" name="Text 1"/>
          <p:cNvSpPr/>
          <p:nvPr/>
        </p:nvSpPr>
        <p:spPr>
          <a:xfrm>
            <a:off x="1170432" y="457200"/>
            <a:ext cx="7772400" cy="475488"/>
          </a:xfrm>
          <a:prstGeom prst="rect">
            <a:avLst/>
          </a:prstGeom>
          <a:noFill/>
          <a:ln/>
        </p:spPr>
        <p:txBody>
          <a:bodyPr wrap="square" lIns="0" tIns="0" rIns="0" bIns="0" rtlCol="0" anchor="ctr"/>
          <a:lstStyle/>
          <a:p>
            <a:pPr algn="l" indent="0" marL="0">
              <a:buNone/>
            </a:pPr>
            <a:r>
              <a:rPr lang="en-US" sz="1300" b="1" spc="300" kern="0" dirty="0">
                <a:solidFill>
                  <a:srgbClr val="2C5F2D"/>
                </a:solidFill>
                <a:latin typeface="Calibri" pitchFamily="34" charset="0"/>
                <a:ea typeface="Calibri" pitchFamily="34" charset="-122"/>
                <a:cs typeface="Calibri" pitchFamily="34" charset="-120"/>
              </a:rPr>
              <a:t>PROOF</a:t>
            </a:r>
            <a:endParaRPr lang="en-US" sz="1300" dirty="0"/>
          </a:p>
        </p:txBody>
      </p:sp>
      <p:sp>
        <p:nvSpPr>
          <p:cNvPr id="5" name="Text 2"/>
          <p:cNvSpPr/>
          <p:nvPr/>
        </p:nvSpPr>
        <p:spPr>
          <a:xfrm>
            <a:off x="548640" y="1024128"/>
            <a:ext cx="11064240" cy="777240"/>
          </a:xfrm>
          <a:prstGeom prst="rect">
            <a:avLst/>
          </a:prstGeom>
          <a:noFill/>
          <a:ln/>
        </p:spPr>
        <p:txBody>
          <a:bodyPr wrap="square" lIns="0" tIns="0" rIns="0" bIns="0" rtlCol="0" anchor="t"/>
          <a:lstStyle/>
          <a:p>
            <a:pPr algn="l" indent="0" marL="0">
              <a:buNone/>
            </a:pPr>
            <a:r>
              <a:rPr lang="en-US" sz="3800" b="1" dirty="0">
                <a:solidFill>
                  <a:srgbClr val="1C2B1D"/>
                </a:solidFill>
                <a:latin typeface="Cambria" pitchFamily="34" charset="0"/>
                <a:ea typeface="Cambria" pitchFamily="34" charset="-122"/>
                <a:cs typeface="Cambria" pitchFamily="34" charset="-120"/>
              </a:rPr>
              <a:t>The chemistry is not hallucinated</a:t>
            </a:r>
            <a:endParaRPr lang="en-US" sz="3800" dirty="0"/>
          </a:p>
        </p:txBody>
      </p:sp>
      <p:sp>
        <p:nvSpPr>
          <p:cNvPr id="6" name="Shape 3"/>
          <p:cNvSpPr/>
          <p:nvPr/>
        </p:nvSpPr>
        <p:spPr>
          <a:xfrm>
            <a:off x="548640" y="1965960"/>
            <a:ext cx="5577840" cy="3977640"/>
          </a:xfrm>
          <a:prstGeom prst="roundRect">
            <a:avLst>
              <a:gd name="adj" fmla="val 2759"/>
            </a:avLst>
          </a:prstGeom>
          <a:solidFill>
            <a:srgbClr val="E7F0E2"/>
          </a:solidFill>
          <a:ln/>
        </p:spPr>
      </p:sp>
      <p:sp>
        <p:nvSpPr>
          <p:cNvPr id="7" name="Text 4"/>
          <p:cNvSpPr/>
          <p:nvPr/>
        </p:nvSpPr>
        <p:spPr>
          <a:xfrm>
            <a:off x="868680" y="2194560"/>
            <a:ext cx="4937760" cy="320040"/>
          </a:xfrm>
          <a:prstGeom prst="rect">
            <a:avLst/>
          </a:prstGeom>
          <a:noFill/>
          <a:ln/>
        </p:spPr>
        <p:txBody>
          <a:bodyPr wrap="square" lIns="0" tIns="0" rIns="0" bIns="0" rtlCol="0" anchor="ctr"/>
          <a:lstStyle/>
          <a:p>
            <a:pPr algn="l" indent="0" marL="0">
              <a:buNone/>
            </a:pPr>
            <a:r>
              <a:rPr lang="en-US" sz="1400" b="1" dirty="0">
                <a:solidFill>
                  <a:srgbClr val="2C5F2D"/>
                </a:solidFill>
                <a:latin typeface="Calibri" pitchFamily="34" charset="0"/>
                <a:ea typeface="Calibri" pitchFamily="34" charset="-122"/>
                <a:cs typeface="Calibri" pitchFamily="34" charset="-120"/>
              </a:rPr>
              <a:t>Confirmed kinetics</a:t>
            </a:r>
            <a:endParaRPr lang="en-US" sz="1400" dirty="0"/>
          </a:p>
        </p:txBody>
      </p:sp>
      <p:sp>
        <p:nvSpPr>
          <p:cNvPr id="8" name="Text 5"/>
          <p:cNvSpPr/>
          <p:nvPr/>
        </p:nvSpPr>
        <p:spPr>
          <a:xfrm>
            <a:off x="868680" y="2560320"/>
            <a:ext cx="5029200" cy="3200400"/>
          </a:xfrm>
          <a:prstGeom prst="rect">
            <a:avLst/>
          </a:prstGeom>
          <a:noFill/>
          <a:ln/>
        </p:spPr>
        <p:txBody>
          <a:bodyPr wrap="square" lIns="0" tIns="0" rIns="0" bIns="0" rtlCol="0" anchor="t"/>
          <a:lstStyle/>
          <a:p>
            <a:pPr algn="l" indent="0" marL="0">
              <a:buNone/>
            </a:pPr>
            <a:r>
              <a:rPr lang="en-US" sz="1250" dirty="0">
                <a:solidFill>
                  <a:srgbClr val="1C2B1D"/>
                </a:solidFill>
                <a:latin typeface="Courier New" pitchFamily="34" charset="0"/>
                <a:ea typeface="Courier New" pitchFamily="34" charset="-122"/>
                <a:cs typeface="Courier New" pitchFamily="34" charset="-120"/>
              </a:rPr>
              <a:t>k = k₀·(1+α·UV)</a:t>
            </a:r>
            <a:endParaRPr lang="en-US" sz="1250" dirty="0"/>
          </a:p>
          <a:p>
            <a:pPr algn="l" indent="0" marL="0">
              <a:buNone/>
            </a:pPr>
            <a:r>
              <a:rPr lang="en-US" sz="1250" dirty="0">
                <a:solidFill>
                  <a:srgbClr val="5C6B5D"/>
                </a:solidFill>
                <a:latin typeface="Courier New" pitchFamily="34" charset="0"/>
                <a:ea typeface="Courier New" pitchFamily="34" charset="-122"/>
                <a:cs typeface="Courier New" pitchFamily="34" charset="-120"/>
              </a:rPr>
              <a:t>  ·e^(−(Ea/R)(1/T−1/T₀))</a:t>
            </a:r>
            <a:endParaRPr lang="en-US" sz="1250" dirty="0"/>
          </a:p>
          <a:p>
            <a:pPr algn="l" indent="0" marL="0">
              <a:buNone/>
            </a:pPr>
            <a:r>
              <a:rPr lang="en-US" sz="1100" dirty="0">
                <a:solidFill>
                  <a:srgbClr val="5C6B5D"/>
                </a:solidFill>
                <a:latin typeface="Calibri" pitchFamily="34" charset="0"/>
                <a:ea typeface="Calibri" pitchFamily="34" charset="-122"/>
                <a:cs typeface="Calibri" pitchFamily="34" charset="-120"/>
              </a:rPr>
              <a:t>UV photolysis × Arrhenius thermal · k₀ = ln(2)/48 h⁻¹</a:t>
            </a:r>
            <a:endParaRPr lang="en-US" sz="1250" dirty="0"/>
          </a:p>
          <a:p>
            <a:pPr algn="l" indent="0" marL="0">
              <a:buNone/>
            </a:pPr>
            <a:endParaRPr lang="en-US" sz="1250" dirty="0"/>
          </a:p>
          <a:p>
            <a:pPr algn="l" indent="0" marL="0">
              <a:buNone/>
            </a:pPr>
            <a:r>
              <a:rPr lang="en-US" sz="1250" dirty="0">
                <a:solidFill>
                  <a:srgbClr val="1C2B1D"/>
                </a:solidFill>
                <a:latin typeface="Courier New" pitchFamily="34" charset="0"/>
                <a:ea typeface="Courier New" pitchFamily="34" charset="-122"/>
                <a:cs typeface="Courier New" pitchFamily="34" charset="-120"/>
              </a:rPr>
              <a:t>lignin = min(3.0 %, 0.25 % + 0.25 %·UV)</a:t>
            </a:r>
            <a:endParaRPr lang="en-US" sz="1250" dirty="0"/>
          </a:p>
          <a:p>
            <a:pPr algn="l" indent="0" marL="0">
              <a:buNone/>
            </a:pPr>
            <a:r>
              <a:rPr lang="en-US" sz="1100" dirty="0">
                <a:solidFill>
                  <a:srgbClr val="5C6B5D"/>
                </a:solidFill>
                <a:latin typeface="Calibri" pitchFamily="34" charset="0"/>
                <a:ea typeface="Calibri" pitchFamily="34" charset="-122"/>
                <a:cs typeface="Calibri" pitchFamily="34" charset="-120"/>
              </a:rPr>
              <a:t>UV stabilizer, capped at the solubility limit</a:t>
            </a:r>
            <a:endParaRPr lang="en-US" sz="1250" dirty="0"/>
          </a:p>
          <a:p>
            <a:pPr algn="l" indent="0" marL="0">
              <a:buNone/>
            </a:pPr>
            <a:endParaRPr lang="en-US" sz="1250" dirty="0"/>
          </a:p>
          <a:p>
            <a:pPr algn="l" indent="0" marL="0">
              <a:buNone/>
            </a:pPr>
            <a:r>
              <a:rPr lang="en-US" sz="1250" dirty="0">
                <a:solidFill>
                  <a:srgbClr val="1C2B1D"/>
                </a:solidFill>
                <a:latin typeface="Courier New" pitchFamily="34" charset="0"/>
                <a:ea typeface="Courier New" pitchFamily="34" charset="-122"/>
                <a:cs typeface="Courier New" pitchFamily="34" charset="-120"/>
              </a:rPr>
              <a:t>surfactant = min(0.20 %,</a:t>
            </a:r>
            <a:endParaRPr lang="en-US" sz="1250" dirty="0"/>
          </a:p>
          <a:p>
            <a:pPr algn="l" indent="0" marL="0">
              <a:buNone/>
            </a:pPr>
            <a:r>
              <a:rPr lang="en-US" sz="1250" dirty="0">
                <a:solidFill>
                  <a:srgbClr val="1C2B1D"/>
                </a:solidFill>
                <a:latin typeface="Courier New" pitchFamily="34" charset="0"/>
                <a:ea typeface="Courier New" pitchFamily="34" charset="-122"/>
                <a:cs typeface="Courier New" pitchFamily="34" charset="-120"/>
              </a:rPr>
              <a:t>  0.05 %·(1+1.2(1−RH/100))·(T/293.15)^1.5)</a:t>
            </a:r>
            <a:endParaRPr lang="en-US" sz="1250" dirty="0"/>
          </a:p>
          <a:p>
            <a:pPr algn="l" indent="0" marL="0">
              <a:buNone/>
            </a:pPr>
            <a:r>
              <a:rPr lang="en-US" sz="1100" dirty="0">
                <a:solidFill>
                  <a:srgbClr val="5C6B5D"/>
                </a:solidFill>
                <a:latin typeface="Calibri" pitchFamily="34" charset="0"/>
                <a:ea typeface="Calibri" pitchFamily="34" charset="-122"/>
                <a:cs typeface="Calibri" pitchFamily="34" charset="-120"/>
              </a:rPr>
              <a:t>wetting agent, capped against phytotoxicity</a:t>
            </a:r>
            <a:endParaRPr lang="en-US" sz="1250" dirty="0"/>
          </a:p>
          <a:p>
            <a:pPr algn="l" indent="0" marL="0">
              <a:buNone/>
            </a:pPr>
            <a:endParaRPr lang="en-US" sz="1250" dirty="0"/>
          </a:p>
          <a:p>
            <a:pPr algn="l" indent="0" marL="0">
              <a:buNone/>
            </a:pPr>
            <a:r>
              <a:rPr lang="en-US" sz="1250" dirty="0">
                <a:solidFill>
                  <a:srgbClr val="1C2B1D"/>
                </a:solidFill>
                <a:latin typeface="Courier New" pitchFamily="34" charset="0"/>
                <a:ea typeface="Courier New" pitchFamily="34" charset="-122"/>
                <a:cs typeface="Courier New" pitchFamily="34" charset="-120"/>
              </a:rPr>
              <a:t>runtime = volume ÷ flow</a:t>
            </a:r>
            <a:endParaRPr lang="en-US" sz="1250" dirty="0"/>
          </a:p>
          <a:p>
            <a:pPr algn="l" indent="0" marL="0">
              <a:buNone/>
            </a:pPr>
            <a:r>
              <a:rPr lang="en-US" sz="1100" dirty="0">
                <a:solidFill>
                  <a:srgbClr val="5C6B5D"/>
                </a:solidFill>
                <a:latin typeface="Calibri" pitchFamily="34" charset="0"/>
                <a:ea typeface="Calibri" pitchFamily="34" charset="-122"/>
                <a:cs typeface="Calibri" pitchFamily="34" charset="-120"/>
              </a:rPr>
              <a:t>0.01 / 0.01 / 0.01 / 0.05 L/s — never accepted from a caller</a:t>
            </a:r>
            <a:endParaRPr lang="en-US" sz="1250" dirty="0"/>
          </a:p>
        </p:txBody>
      </p:sp>
      <p:sp>
        <p:nvSpPr>
          <p:cNvPr id="9" name="Shape 6"/>
          <p:cNvSpPr/>
          <p:nvPr/>
        </p:nvSpPr>
        <p:spPr>
          <a:xfrm>
            <a:off x="6446520" y="1965960"/>
            <a:ext cx="5193792" cy="3977640"/>
          </a:xfrm>
          <a:prstGeom prst="roundRect">
            <a:avLst>
              <a:gd name="adj" fmla="val 2759"/>
            </a:avLst>
          </a:prstGeom>
          <a:solidFill>
            <a:srgbClr val="1B2A1C"/>
          </a:solidFill>
          <a:ln/>
        </p:spPr>
      </p:sp>
      <p:sp>
        <p:nvSpPr>
          <p:cNvPr id="10" name="Text 7"/>
          <p:cNvSpPr/>
          <p:nvPr/>
        </p:nvSpPr>
        <p:spPr>
          <a:xfrm>
            <a:off x="6720840" y="2240280"/>
            <a:ext cx="4663440" cy="3429000"/>
          </a:xfrm>
          <a:prstGeom prst="rect">
            <a:avLst/>
          </a:prstGeom>
          <a:noFill/>
          <a:ln/>
        </p:spPr>
        <p:txBody>
          <a:bodyPr wrap="square" lIns="0" tIns="0" rIns="0" bIns="0" rtlCol="0" anchor="t"/>
          <a:lstStyle/>
          <a:p>
            <a:pPr algn="l" indent="0" marL="0">
              <a:buNone/>
            </a:pPr>
            <a:r>
              <a:rPr lang="en-US" sz="1150" dirty="0">
                <a:solidFill>
                  <a:srgbClr val="7FA87C"/>
                </a:solidFill>
                <a:latin typeface="Courier New" pitchFamily="34" charset="0"/>
                <a:ea typeface="Courier New" pitchFamily="34" charset="-122"/>
                <a:cs typeface="Courier New" pitchFamily="34" charset="-120"/>
              </a:rPr>
              <a:t>$ python src/mcp_server_scada.py --selftest</a:t>
            </a:r>
            <a:endParaRPr lang="en-US" sz="1150" dirty="0"/>
          </a:p>
          <a:p>
            <a:pPr algn="l" indent="0" marL="0">
              <a:buNone/>
            </a:pPr>
            <a:r>
              <a:rPr lang="en-US" sz="1150" dirty="0">
                <a:solidFill>
                  <a:srgbClr val="B7D9A8"/>
                </a:solidFill>
                <a:latin typeface="Courier New" pitchFamily="34" charset="0"/>
                <a:ea typeface="Courier New" pitchFamily="34" charset="-122"/>
                <a:cs typeface="Courier New" pitchFamily="34" charset="-120"/>
              </a:rPr>
              <a:t>  [PASS] k_baseline:   got=0.078508</a:t>
            </a:r>
            <a:endParaRPr lang="en-US" sz="1150" dirty="0"/>
          </a:p>
          <a:p>
            <a:pPr algn="l" indent="0" marL="0">
              <a:buNone/>
            </a:pPr>
            <a:r>
              <a:rPr lang="en-US" sz="1150" dirty="0">
                <a:solidFill>
                  <a:srgbClr val="B7D9A8"/>
                </a:solidFill>
                <a:latin typeface="Courier New" pitchFamily="34" charset="0"/>
                <a:ea typeface="Courier New" pitchFamily="34" charset="-122"/>
                <a:cs typeface="Courier New" pitchFamily="34" charset="-120"/>
              </a:rPr>
              <a:t>  [PASS] half_life:    got=8.829</a:t>
            </a:r>
            <a:endParaRPr lang="en-US" sz="1150" dirty="0"/>
          </a:p>
          <a:p>
            <a:pPr algn="l" indent="0" marL="0">
              <a:buNone/>
            </a:pPr>
            <a:r>
              <a:rPr lang="en-US" sz="1150" dirty="0">
                <a:solidFill>
                  <a:srgbClr val="B7D9A8"/>
                </a:solidFill>
                <a:latin typeface="Courier New" pitchFamily="34" charset="0"/>
                <a:ea typeface="Courier New" pitchFamily="34" charset="-122"/>
                <a:cs typeface="Courier New" pitchFamily="34" charset="-120"/>
              </a:rPr>
              <a:t>  [PASS] bio_l:        got=0.04</a:t>
            </a:r>
            <a:endParaRPr lang="en-US" sz="1150" dirty="0"/>
          </a:p>
          <a:p>
            <a:pPr algn="l" indent="0" marL="0">
              <a:buNone/>
            </a:pPr>
            <a:r>
              <a:rPr lang="en-US" sz="1150" dirty="0">
                <a:solidFill>
                  <a:srgbClr val="B7D9A8"/>
                </a:solidFill>
                <a:latin typeface="Courier New" pitchFamily="34" charset="0"/>
                <a:ea typeface="Courier New" pitchFamily="34" charset="-122"/>
                <a:cs typeface="Courier New" pitchFamily="34" charset="-120"/>
              </a:rPr>
              <a:t>  [PASS] lignin_pct:   got=2.55</a:t>
            </a:r>
            <a:endParaRPr lang="en-US" sz="1150" dirty="0"/>
          </a:p>
          <a:p>
            <a:pPr algn="l" indent="0" marL="0">
              <a:buNone/>
            </a:pPr>
            <a:r>
              <a:rPr lang="en-US" sz="1150" dirty="0">
                <a:solidFill>
                  <a:srgbClr val="B7D9A8"/>
                </a:solidFill>
                <a:latin typeface="Courier New" pitchFamily="34" charset="0"/>
                <a:ea typeface="Courier New" pitchFamily="34" charset="-122"/>
                <a:cs typeface="Courier New" pitchFamily="34" charset="-120"/>
              </a:rPr>
              <a:t>  [PASS] surf_pct_capped: got=0.0993</a:t>
            </a:r>
            <a:endParaRPr lang="en-US" sz="1150" dirty="0"/>
          </a:p>
          <a:p>
            <a:pPr algn="l" indent="0" marL="0">
              <a:buNone/>
            </a:pPr>
            <a:r>
              <a:rPr lang="en-US" sz="1150" dirty="0">
                <a:solidFill>
                  <a:srgbClr val="B7D9A8"/>
                </a:solidFill>
                <a:latin typeface="Courier New" pitchFamily="34" charset="0"/>
                <a:ea typeface="Courier New" pitchFamily="34" charset="-122"/>
                <a:cs typeface="Courier New" pitchFamily="34" charset="-120"/>
              </a:rPr>
              <a:t>  [PASS] rejects_overcap_surfactant: True</a:t>
            </a:r>
            <a:endParaRPr lang="en-US" sz="1150" dirty="0"/>
          </a:p>
          <a:p>
            <a:pPr algn="l" indent="0" marL="0">
              <a:buNone/>
            </a:pPr>
            <a:r>
              <a:rPr lang="en-US" sz="1150" dirty="0">
                <a:solidFill>
                  <a:srgbClr val="B7D9A8"/>
                </a:solidFill>
                <a:latin typeface="Courier New" pitchFamily="34" charset="0"/>
                <a:ea typeface="Courier New" pitchFamily="34" charset="-122"/>
                <a:cs typeface="Courier New" pitchFamily="34" charset="-120"/>
              </a:rPr>
              <a:t>  [PASS] pump1_duration: got=4.0</a:t>
            </a:r>
            <a:endParaRPr lang="en-US" sz="1150" dirty="0"/>
          </a:p>
          <a:p>
            <a:pPr algn="l" indent="0" marL="0">
              <a:buNone/>
            </a:pPr>
            <a:r>
              <a:rPr lang="en-US" sz="1150" dirty="0">
                <a:solidFill>
                  <a:srgbClr val="B7D9A8"/>
                </a:solidFill>
                <a:latin typeface="Courier New" pitchFamily="34" charset="0"/>
                <a:ea typeface="Courier New" pitchFamily="34" charset="-122"/>
                <a:cs typeface="Courier New" pitchFamily="34" charset="-120"/>
              </a:rPr>
              <a:t>  [PASS] all_runtimes_under_30s: True</a:t>
            </a:r>
            <a:endParaRPr lang="en-US" sz="1150" dirty="0"/>
          </a:p>
          <a:p>
            <a:pPr algn="l" indent="0" marL="0">
              <a:buNone/>
            </a:pPr>
            <a:r>
              <a:rPr lang="en-US" sz="1150" dirty="0">
                <a:solidFill>
                  <a:srgbClr val="B7D9A8"/>
                </a:solidFill>
                <a:latin typeface="Courier New" pitchFamily="34" charset="0"/>
                <a:ea typeface="Courier New" pitchFamily="34" charset="-122"/>
                <a:cs typeface="Courier New" pitchFamily="34" charset="-120"/>
              </a:rPr>
              <a:t>  [PASS] lignin_cap:   got=3.0</a:t>
            </a:r>
            <a:endParaRPr lang="en-US" sz="1150" dirty="0"/>
          </a:p>
          <a:p>
            <a:pPr algn="l" indent="0" marL="0">
              <a:buNone/>
            </a:pPr>
            <a:r>
              <a:rPr lang="en-US" sz="1150" dirty="0">
                <a:solidFill>
                  <a:srgbClr val="7FA87C"/>
                </a:solidFill>
                <a:latin typeface="Courier New" pitchFamily="34" charset="0"/>
                <a:ea typeface="Courier New" pitchFamily="34" charset="-122"/>
                <a:cs typeface="Courier New" pitchFamily="34" charset="-120"/>
              </a:rPr>
              <a:t>  …  21 checks</a:t>
            </a:r>
            <a:endParaRPr lang="en-US" sz="1150" dirty="0"/>
          </a:p>
          <a:p>
            <a:pPr algn="l" indent="0" marL="0">
              <a:buNone/>
            </a:pPr>
            <a:r>
              <a:rPr lang="en-US" sz="1150" b="1" dirty="0">
                <a:solidFill>
                  <a:srgbClr val="D8F3C6"/>
                </a:solidFill>
                <a:latin typeface="Courier New" pitchFamily="34" charset="0"/>
                <a:ea typeface="Courier New" pitchFamily="34" charset="-122"/>
                <a:cs typeface="Courier New" pitchFamily="34" charset="-120"/>
              </a:rPr>
              <a:t>SELFTEST PASSED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E7F0E2"/>
          </a:solidFill>
          <a:ln/>
        </p:spPr>
      </p:sp>
      <p:pic>
        <p:nvPicPr>
          <p:cNvPr id="3" name="Image 0" descr="preencoded.png">    </p:cNvPr>
          <p:cNvPicPr>
            <a:picLocks noChangeAspect="1"/>
          </p:cNvPicPr>
          <p:nvPr/>
        </p:nvPicPr>
        <p:blipFill>
          <a:blip r:embed="rId1"/>
          <a:stretch>
            <a:fillRect/>
          </a:stretch>
        </p:blipFill>
        <p:spPr>
          <a:xfrm>
            <a:off x="667512" y="576072"/>
            <a:ext cx="237744" cy="237744"/>
          </a:xfrm>
          <a:prstGeom prst="rect">
            <a:avLst/>
          </a:prstGeom>
        </p:spPr>
      </p:pic>
      <p:sp>
        <p:nvSpPr>
          <p:cNvPr id="4" name="Text 1"/>
          <p:cNvSpPr/>
          <p:nvPr/>
        </p:nvSpPr>
        <p:spPr>
          <a:xfrm>
            <a:off x="1170432" y="457200"/>
            <a:ext cx="7772400" cy="475488"/>
          </a:xfrm>
          <a:prstGeom prst="rect">
            <a:avLst/>
          </a:prstGeom>
          <a:noFill/>
          <a:ln/>
        </p:spPr>
        <p:txBody>
          <a:bodyPr wrap="square" lIns="0" tIns="0" rIns="0" bIns="0" rtlCol="0" anchor="ctr"/>
          <a:lstStyle/>
          <a:p>
            <a:pPr algn="l" indent="0" marL="0">
              <a:buNone/>
            </a:pPr>
            <a:r>
              <a:rPr lang="en-US" sz="1300" b="1" spc="300" kern="0" dirty="0">
                <a:solidFill>
                  <a:srgbClr val="2C5F2D"/>
                </a:solidFill>
                <a:latin typeface="Calibri" pitchFamily="34" charset="0"/>
                <a:ea typeface="Calibri" pitchFamily="34" charset="-122"/>
                <a:cs typeface="Calibri" pitchFamily="34" charset="-120"/>
              </a:rPr>
              <a:t>LIVE</a:t>
            </a:r>
            <a:endParaRPr lang="en-US" sz="1300" dirty="0"/>
          </a:p>
        </p:txBody>
      </p:sp>
      <p:sp>
        <p:nvSpPr>
          <p:cNvPr id="5" name="Text 2"/>
          <p:cNvSpPr/>
          <p:nvPr/>
        </p:nvSpPr>
        <p:spPr>
          <a:xfrm>
            <a:off x="548640" y="1024128"/>
            <a:ext cx="11064240" cy="777240"/>
          </a:xfrm>
          <a:prstGeom prst="rect">
            <a:avLst/>
          </a:prstGeom>
          <a:noFill/>
          <a:ln/>
        </p:spPr>
        <p:txBody>
          <a:bodyPr wrap="square" lIns="0" tIns="0" rIns="0" bIns="0" rtlCol="0" anchor="t"/>
          <a:lstStyle/>
          <a:p>
            <a:pPr algn="l" indent="0" marL="0">
              <a:buNone/>
            </a:pPr>
            <a:r>
              <a:rPr lang="en-US" sz="3800" b="1" dirty="0">
                <a:solidFill>
                  <a:srgbClr val="1C2B1D"/>
                </a:solidFill>
                <a:latin typeface="Cambria" pitchFamily="34" charset="0"/>
                <a:ea typeface="Cambria" pitchFamily="34" charset="-122"/>
                <a:cs typeface="Cambria" pitchFamily="34" charset="-120"/>
              </a:rPr>
              <a:t>One dispatch, end to end</a:t>
            </a:r>
            <a:endParaRPr lang="en-US" sz="3800" dirty="0"/>
          </a:p>
        </p:txBody>
      </p:sp>
      <p:pic>
        <p:nvPicPr>
          <p:cNvPr id="6" name="Image 1" descr="/home/usman/Projects/AgriAgent/docs/presentation/assets/demo-dispatch.png">    </p:cNvPr>
          <p:cNvPicPr>
            <a:picLocks noChangeAspect="1"/>
          </p:cNvPicPr>
          <p:nvPr/>
        </p:nvPicPr>
        <p:blipFill>
          <a:blip r:embed="rId2"/>
          <a:stretch>
            <a:fillRect/>
          </a:stretch>
        </p:blipFill>
        <p:spPr>
          <a:xfrm>
            <a:off x="548640" y="2057400"/>
            <a:ext cx="7721600" cy="4343400"/>
          </a:xfrm>
          <a:prstGeom prst="rect">
            <a:avLst/>
          </a:prstGeom>
        </p:spPr>
      </p:pic>
      <p:sp>
        <p:nvSpPr>
          <p:cNvPr id="7" name="Text 3"/>
          <p:cNvSpPr/>
          <p:nvPr/>
        </p:nvSpPr>
        <p:spPr>
          <a:xfrm>
            <a:off x="8732520" y="2240280"/>
            <a:ext cx="2926080" cy="274320"/>
          </a:xfrm>
          <a:prstGeom prst="rect">
            <a:avLst/>
          </a:prstGeom>
          <a:noFill/>
          <a:ln/>
        </p:spPr>
        <p:txBody>
          <a:bodyPr wrap="square" lIns="0" tIns="0" rIns="0" bIns="0" rtlCol="0" anchor="ctr"/>
          <a:lstStyle/>
          <a:p>
            <a:pPr algn="l" indent="0" marL="0">
              <a:buNone/>
            </a:pPr>
            <a:r>
              <a:rPr lang="en-US" sz="1400" b="1" dirty="0">
                <a:solidFill>
                  <a:srgbClr val="2C5F2D"/>
                </a:solidFill>
                <a:latin typeface="Calibri" pitchFamily="34" charset="0"/>
                <a:ea typeface="Calibri" pitchFamily="34" charset="-122"/>
                <a:cs typeface="Calibri" pitchFamily="34" charset="-120"/>
              </a:rPr>
              <a:t>The recipe</a:t>
            </a:r>
            <a:endParaRPr lang="en-US" sz="1400" dirty="0"/>
          </a:p>
        </p:txBody>
      </p:sp>
      <p:sp>
        <p:nvSpPr>
          <p:cNvPr id="8" name="Text 4"/>
          <p:cNvSpPr/>
          <p:nvPr/>
        </p:nvSpPr>
        <p:spPr>
          <a:xfrm>
            <a:off x="8732520" y="2514600"/>
            <a:ext cx="2926080" cy="868680"/>
          </a:xfrm>
          <a:prstGeom prst="rect">
            <a:avLst/>
          </a:prstGeom>
          <a:noFill/>
          <a:ln/>
        </p:spPr>
        <p:txBody>
          <a:bodyPr wrap="square" lIns="0" tIns="0" rIns="0" bIns="0" rtlCol="0" anchor="t"/>
          <a:lstStyle/>
          <a:p>
            <a:pPr algn="l" indent="0" marL="0">
              <a:buNone/>
            </a:pPr>
            <a:r>
              <a:rPr lang="en-US" sz="1200" dirty="0">
                <a:solidFill>
                  <a:srgbClr val="1C2B1D"/>
                </a:solidFill>
                <a:latin typeface="Calibri" pitchFamily="34" charset="0"/>
                <a:ea typeface="Calibri" pitchFamily="34" charset="-122"/>
                <a:cs typeface="Calibri" pitchFamily="34" charset="-120"/>
              </a:rPr>
              <a:t>bio 0.0400 L · stabilizer 0.01275 L · surfactant 0.0005 L · water 0.44675 L</a:t>
            </a:r>
            <a:endParaRPr lang="en-US" sz="1200" dirty="0"/>
          </a:p>
        </p:txBody>
      </p:sp>
      <p:sp>
        <p:nvSpPr>
          <p:cNvPr id="9" name="Text 5"/>
          <p:cNvSpPr/>
          <p:nvPr/>
        </p:nvSpPr>
        <p:spPr>
          <a:xfrm>
            <a:off x="8732520" y="3474720"/>
            <a:ext cx="2926080" cy="274320"/>
          </a:xfrm>
          <a:prstGeom prst="rect">
            <a:avLst/>
          </a:prstGeom>
          <a:noFill/>
          <a:ln/>
        </p:spPr>
        <p:txBody>
          <a:bodyPr wrap="square" lIns="0" tIns="0" rIns="0" bIns="0" rtlCol="0" anchor="ctr"/>
          <a:lstStyle/>
          <a:p>
            <a:pPr algn="l" indent="0" marL="0">
              <a:buNone/>
            </a:pPr>
            <a:r>
              <a:rPr lang="en-US" sz="1400" b="1" dirty="0">
                <a:solidFill>
                  <a:srgbClr val="2C5F2D"/>
                </a:solidFill>
                <a:latin typeface="Calibri" pitchFamily="34" charset="0"/>
                <a:ea typeface="Calibri" pitchFamily="34" charset="-122"/>
                <a:cs typeface="Calibri" pitchFamily="34" charset="-120"/>
              </a:rPr>
              <a:t>The runtimes</a:t>
            </a:r>
            <a:endParaRPr lang="en-US" sz="1400" dirty="0"/>
          </a:p>
        </p:txBody>
      </p:sp>
      <p:sp>
        <p:nvSpPr>
          <p:cNvPr id="10" name="Text 6"/>
          <p:cNvSpPr/>
          <p:nvPr/>
        </p:nvSpPr>
        <p:spPr>
          <a:xfrm>
            <a:off x="8732520" y="3749040"/>
            <a:ext cx="2926080" cy="868680"/>
          </a:xfrm>
          <a:prstGeom prst="rect">
            <a:avLst/>
          </a:prstGeom>
          <a:noFill/>
          <a:ln/>
        </p:spPr>
        <p:txBody>
          <a:bodyPr wrap="square" lIns="0" tIns="0" rIns="0" bIns="0" rtlCol="0" anchor="t"/>
          <a:lstStyle/>
          <a:p>
            <a:pPr algn="l" indent="0" marL="0">
              <a:buNone/>
            </a:pPr>
            <a:r>
              <a:rPr lang="en-US" sz="1200" dirty="0">
                <a:solidFill>
                  <a:srgbClr val="1C2B1D"/>
                </a:solidFill>
                <a:latin typeface="Calibri" pitchFamily="34" charset="0"/>
                <a:ea typeface="Calibri" pitchFamily="34" charset="-122"/>
                <a:cs typeface="Calibri" pitchFamily="34" charset="-120"/>
              </a:rPr>
              <a:t>4.000 s · 1.275 s · 0.050 s · 8.935 s — computed from the calibrated flow table</a:t>
            </a:r>
            <a:endParaRPr lang="en-US" sz="1200" dirty="0"/>
          </a:p>
        </p:txBody>
      </p:sp>
      <p:sp>
        <p:nvSpPr>
          <p:cNvPr id="11" name="Text 7"/>
          <p:cNvSpPr/>
          <p:nvPr/>
        </p:nvSpPr>
        <p:spPr>
          <a:xfrm>
            <a:off x="8732520" y="4709160"/>
            <a:ext cx="2926080" cy="274320"/>
          </a:xfrm>
          <a:prstGeom prst="rect">
            <a:avLst/>
          </a:prstGeom>
          <a:noFill/>
          <a:ln/>
        </p:spPr>
        <p:txBody>
          <a:bodyPr wrap="square" lIns="0" tIns="0" rIns="0" bIns="0" rtlCol="0" anchor="ctr"/>
          <a:lstStyle/>
          <a:p>
            <a:pPr algn="l" indent="0" marL="0">
              <a:buNone/>
            </a:pPr>
            <a:r>
              <a:rPr lang="en-US" sz="1400" b="1" dirty="0">
                <a:solidFill>
                  <a:srgbClr val="2C5F2D"/>
                </a:solidFill>
                <a:latin typeface="Calibri" pitchFamily="34" charset="0"/>
                <a:ea typeface="Calibri" pitchFamily="34" charset="-122"/>
                <a:cs typeface="Calibri" pitchFamily="34" charset="-120"/>
              </a:rPr>
              <a:t>The feedback</a:t>
            </a:r>
            <a:endParaRPr lang="en-US" sz="1400" dirty="0"/>
          </a:p>
        </p:txBody>
      </p:sp>
      <p:sp>
        <p:nvSpPr>
          <p:cNvPr id="12" name="Text 8"/>
          <p:cNvSpPr/>
          <p:nvPr/>
        </p:nvSpPr>
        <p:spPr>
          <a:xfrm>
            <a:off x="8732520" y="4983480"/>
            <a:ext cx="2926080" cy="868680"/>
          </a:xfrm>
          <a:prstGeom prst="rect">
            <a:avLst/>
          </a:prstGeom>
          <a:noFill/>
          <a:ln/>
        </p:spPr>
        <p:txBody>
          <a:bodyPr wrap="square" lIns="0" tIns="0" rIns="0" bIns="0" rtlCol="0" anchor="t"/>
          <a:lstStyle/>
          <a:p>
            <a:pPr algn="l" indent="0" marL="0">
              <a:buNone/>
            </a:pPr>
            <a:r>
              <a:rPr lang="en-US" sz="1200" dirty="0">
                <a:solidFill>
                  <a:srgbClr val="1C2B1D"/>
                </a:solidFill>
                <a:latin typeface="Calibri" pitchFamily="34" charset="0"/>
                <a:ea typeface="Calibri" pitchFamily="34" charset="-122"/>
                <a:cs typeface="Calibri" pitchFamily="34" charset="-120"/>
              </a:rPr>
              <a:t>tank state published after every pump, then DISPATCH_COMPLETE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E7F0E2"/>
          </a:solidFill>
          <a:ln/>
        </p:spPr>
      </p:sp>
      <p:pic>
        <p:nvPicPr>
          <p:cNvPr id="3" name="Image 0" descr="preencoded.png">    </p:cNvPr>
          <p:cNvPicPr>
            <a:picLocks noChangeAspect="1"/>
          </p:cNvPicPr>
          <p:nvPr/>
        </p:nvPicPr>
        <p:blipFill>
          <a:blip r:embed="rId1"/>
          <a:stretch>
            <a:fillRect/>
          </a:stretch>
        </p:blipFill>
        <p:spPr>
          <a:xfrm>
            <a:off x="667512" y="576072"/>
            <a:ext cx="237744" cy="237744"/>
          </a:xfrm>
          <a:prstGeom prst="rect">
            <a:avLst/>
          </a:prstGeom>
        </p:spPr>
      </p:pic>
      <p:sp>
        <p:nvSpPr>
          <p:cNvPr id="4" name="Text 1"/>
          <p:cNvSpPr/>
          <p:nvPr/>
        </p:nvSpPr>
        <p:spPr>
          <a:xfrm>
            <a:off x="1170432" y="457200"/>
            <a:ext cx="7772400" cy="475488"/>
          </a:xfrm>
          <a:prstGeom prst="rect">
            <a:avLst/>
          </a:prstGeom>
          <a:noFill/>
          <a:ln/>
        </p:spPr>
        <p:txBody>
          <a:bodyPr wrap="square" lIns="0" tIns="0" rIns="0" bIns="0" rtlCol="0" anchor="ctr"/>
          <a:lstStyle/>
          <a:p>
            <a:pPr algn="l" indent="0" marL="0">
              <a:buNone/>
            </a:pPr>
            <a:r>
              <a:rPr lang="en-US" sz="1300" b="1" spc="300" kern="0" dirty="0">
                <a:solidFill>
                  <a:srgbClr val="2C5F2D"/>
                </a:solidFill>
                <a:latin typeface="Calibri" pitchFamily="34" charset="0"/>
                <a:ea typeface="Calibri" pitchFamily="34" charset="-122"/>
                <a:cs typeface="Calibri" pitchFamily="34" charset="-120"/>
              </a:rPr>
              <a:t>SAFETY</a:t>
            </a:r>
            <a:endParaRPr lang="en-US" sz="1300" dirty="0"/>
          </a:p>
        </p:txBody>
      </p:sp>
      <p:sp>
        <p:nvSpPr>
          <p:cNvPr id="5" name="Text 2"/>
          <p:cNvSpPr/>
          <p:nvPr/>
        </p:nvSpPr>
        <p:spPr>
          <a:xfrm>
            <a:off x="548640" y="1024128"/>
            <a:ext cx="11064240" cy="777240"/>
          </a:xfrm>
          <a:prstGeom prst="rect">
            <a:avLst/>
          </a:prstGeom>
          <a:noFill/>
          <a:ln/>
        </p:spPr>
        <p:txBody>
          <a:bodyPr wrap="square" lIns="0" tIns="0" rIns="0" bIns="0" rtlCol="0" anchor="t"/>
          <a:lstStyle/>
          <a:p>
            <a:pPr algn="l" indent="0" marL="0">
              <a:buNone/>
            </a:pPr>
            <a:r>
              <a:rPr lang="en-US" sz="3800" b="1" dirty="0">
                <a:solidFill>
                  <a:srgbClr val="1C2B1D"/>
                </a:solidFill>
                <a:latin typeface="Cambria" pitchFamily="34" charset="0"/>
                <a:ea typeface="Cambria" pitchFamily="34" charset="-122"/>
                <a:cs typeface="Cambria" pitchFamily="34" charset="-120"/>
              </a:rPr>
              <a:t>Refusing is the feature</a:t>
            </a:r>
            <a:endParaRPr lang="en-US" sz="3800" dirty="0"/>
          </a:p>
        </p:txBody>
      </p:sp>
      <p:pic>
        <p:nvPicPr>
          <p:cNvPr id="6" name="Image 1" descr="/home/usman/Projects/AgriAgent/docs/presentation/assets/demo-refused.png">    </p:cNvPr>
          <p:cNvPicPr>
            <a:picLocks noChangeAspect="1"/>
          </p:cNvPicPr>
          <p:nvPr/>
        </p:nvPicPr>
        <p:blipFill>
          <a:blip r:embed="rId2"/>
          <a:stretch>
            <a:fillRect/>
          </a:stretch>
        </p:blipFill>
        <p:spPr>
          <a:xfrm>
            <a:off x="4005072" y="2057400"/>
            <a:ext cx="7635240" cy="4294822"/>
          </a:xfrm>
          <a:prstGeom prst="rect">
            <a:avLst/>
          </a:prstGeom>
        </p:spPr>
      </p:pic>
      <p:sp>
        <p:nvSpPr>
          <p:cNvPr id="7" name="Text 3"/>
          <p:cNvSpPr/>
          <p:nvPr/>
        </p:nvSpPr>
        <p:spPr>
          <a:xfrm>
            <a:off x="548640" y="2240280"/>
            <a:ext cx="3063240" cy="274320"/>
          </a:xfrm>
          <a:prstGeom prst="rect">
            <a:avLst/>
          </a:prstGeom>
          <a:noFill/>
          <a:ln/>
        </p:spPr>
        <p:txBody>
          <a:bodyPr wrap="square" lIns="0" tIns="0" rIns="0" bIns="0" rtlCol="0" anchor="ctr"/>
          <a:lstStyle/>
          <a:p>
            <a:pPr algn="l" indent="0" marL="0">
              <a:buNone/>
            </a:pPr>
            <a:r>
              <a:rPr lang="en-US" sz="1400" b="1" dirty="0">
                <a:solidFill>
                  <a:srgbClr val="2C5F2D"/>
                </a:solidFill>
                <a:latin typeface="Calibri" pitchFamily="34" charset="0"/>
                <a:ea typeface="Calibri" pitchFamily="34" charset="-122"/>
                <a:cs typeface="Calibri" pitchFamily="34" charset="-120"/>
              </a:rPr>
              <a:t>10 L batch requested</a:t>
            </a:r>
            <a:endParaRPr lang="en-US" sz="1400" dirty="0"/>
          </a:p>
        </p:txBody>
      </p:sp>
      <p:sp>
        <p:nvSpPr>
          <p:cNvPr id="8" name="Text 4"/>
          <p:cNvSpPr/>
          <p:nvPr/>
        </p:nvSpPr>
        <p:spPr>
          <a:xfrm>
            <a:off x="548640" y="2514600"/>
            <a:ext cx="3063240" cy="868680"/>
          </a:xfrm>
          <a:prstGeom prst="rect">
            <a:avLst/>
          </a:prstGeom>
          <a:noFill/>
          <a:ln/>
        </p:spPr>
        <p:txBody>
          <a:bodyPr wrap="square" lIns="0" tIns="0" rIns="0" bIns="0" rtlCol="0" anchor="t"/>
          <a:lstStyle/>
          <a:p>
            <a:pPr algn="l" indent="0" marL="0">
              <a:buNone/>
            </a:pPr>
            <a:r>
              <a:rPr lang="en-US" sz="1200" dirty="0">
                <a:solidFill>
                  <a:srgbClr val="1C2B1D"/>
                </a:solidFill>
                <a:latin typeface="Calibri" pitchFamily="34" charset="0"/>
                <a:ea typeface="Calibri" pitchFamily="34" charset="-122"/>
                <a:cs typeface="Calibri" pitchFamily="34" charset="-120"/>
              </a:rPr>
              <a:t>pump 1 runtime 80.0 s, pump 4 runtime 178.7 s — both breach the 30 s thermal cap</a:t>
            </a:r>
            <a:endParaRPr lang="en-US" sz="1200" dirty="0"/>
          </a:p>
        </p:txBody>
      </p:sp>
      <p:sp>
        <p:nvSpPr>
          <p:cNvPr id="9" name="Text 5"/>
          <p:cNvSpPr/>
          <p:nvPr/>
        </p:nvSpPr>
        <p:spPr>
          <a:xfrm>
            <a:off x="548640" y="3474720"/>
            <a:ext cx="3063240" cy="274320"/>
          </a:xfrm>
          <a:prstGeom prst="rect">
            <a:avLst/>
          </a:prstGeom>
          <a:noFill/>
          <a:ln/>
        </p:spPr>
        <p:txBody>
          <a:bodyPr wrap="square" lIns="0" tIns="0" rIns="0" bIns="0" rtlCol="0" anchor="ctr"/>
          <a:lstStyle/>
          <a:p>
            <a:pPr algn="l" indent="0" marL="0">
              <a:buNone/>
            </a:pPr>
            <a:r>
              <a:rPr lang="en-US" sz="1400" b="1" dirty="0">
                <a:solidFill>
                  <a:srgbClr val="2C5F2D"/>
                </a:solidFill>
                <a:latin typeface="Calibri" pitchFamily="34" charset="0"/>
                <a:ea typeface="Calibri" pitchFamily="34" charset="-122"/>
                <a:cs typeface="Calibri" pitchFamily="34" charset="-120"/>
              </a:rPr>
              <a:t>Blocked before you can click</a:t>
            </a:r>
            <a:endParaRPr lang="en-US" sz="1400" dirty="0"/>
          </a:p>
        </p:txBody>
      </p:sp>
      <p:sp>
        <p:nvSpPr>
          <p:cNvPr id="10" name="Text 6"/>
          <p:cNvSpPr/>
          <p:nvPr/>
        </p:nvSpPr>
        <p:spPr>
          <a:xfrm>
            <a:off x="548640" y="3749040"/>
            <a:ext cx="3063240" cy="868680"/>
          </a:xfrm>
          <a:prstGeom prst="rect">
            <a:avLst/>
          </a:prstGeom>
          <a:noFill/>
          <a:ln/>
        </p:spPr>
        <p:txBody>
          <a:bodyPr wrap="square" lIns="0" tIns="0" rIns="0" bIns="0" rtlCol="0" anchor="t"/>
          <a:lstStyle/>
          <a:p>
            <a:pPr algn="l" indent="0" marL="0">
              <a:buNone/>
            </a:pPr>
            <a:r>
              <a:rPr lang="en-US" sz="1200" dirty="0">
                <a:solidFill>
                  <a:srgbClr val="1C2B1D"/>
                </a:solidFill>
                <a:latin typeface="Calibri" pitchFamily="34" charset="0"/>
                <a:ea typeface="Calibri" pitchFamily="34" charset="-122"/>
                <a:cs typeface="Calibri" pitchFamily="34" charset="-120"/>
              </a:rPr>
              <a:t>the dispatch button disables itself while the recipe fails validation</a:t>
            </a:r>
            <a:endParaRPr lang="en-US" sz="1200" dirty="0"/>
          </a:p>
        </p:txBody>
      </p:sp>
      <p:sp>
        <p:nvSpPr>
          <p:cNvPr id="11" name="Text 7"/>
          <p:cNvSpPr/>
          <p:nvPr/>
        </p:nvSpPr>
        <p:spPr>
          <a:xfrm>
            <a:off x="548640" y="4709160"/>
            <a:ext cx="3063240" cy="274320"/>
          </a:xfrm>
          <a:prstGeom prst="rect">
            <a:avLst/>
          </a:prstGeom>
          <a:noFill/>
          <a:ln/>
        </p:spPr>
        <p:txBody>
          <a:bodyPr wrap="square" lIns="0" tIns="0" rIns="0" bIns="0" rtlCol="0" anchor="ctr"/>
          <a:lstStyle/>
          <a:p>
            <a:pPr algn="l" indent="0" marL="0">
              <a:buNone/>
            </a:pPr>
            <a:r>
              <a:rPr lang="en-US" sz="1400" b="1" dirty="0">
                <a:solidFill>
                  <a:srgbClr val="2C5F2D"/>
                </a:solidFill>
                <a:latin typeface="Calibri" pitchFamily="34" charset="0"/>
                <a:ea typeface="Calibri" pitchFamily="34" charset="-122"/>
                <a:cs typeface="Calibri" pitchFamily="34" charset="-120"/>
              </a:rPr>
              <a:t>Nothing is published</a:t>
            </a:r>
            <a:endParaRPr lang="en-US" sz="1400" dirty="0"/>
          </a:p>
        </p:txBody>
      </p:sp>
      <p:sp>
        <p:nvSpPr>
          <p:cNvPr id="12" name="Text 8"/>
          <p:cNvSpPr/>
          <p:nvPr/>
        </p:nvSpPr>
        <p:spPr>
          <a:xfrm>
            <a:off x="548640" y="4983480"/>
            <a:ext cx="3063240" cy="868680"/>
          </a:xfrm>
          <a:prstGeom prst="rect">
            <a:avLst/>
          </a:prstGeom>
          <a:noFill/>
          <a:ln/>
        </p:spPr>
        <p:txBody>
          <a:bodyPr wrap="square" lIns="0" tIns="0" rIns="0" bIns="0" rtlCol="0" anchor="t"/>
          <a:lstStyle/>
          <a:p>
            <a:pPr algn="l" indent="0" marL="0">
              <a:buNone/>
            </a:pPr>
            <a:r>
              <a:rPr lang="en-US" sz="1200" dirty="0">
                <a:solidFill>
                  <a:srgbClr val="1C2B1D"/>
                </a:solidFill>
                <a:latin typeface="Calibri" pitchFamily="34" charset="0"/>
                <a:ea typeface="Calibri" pitchFamily="34" charset="-122"/>
                <a:cs typeface="Calibri" pitchFamily="34" charset="-120"/>
              </a:rPr>
              <a:t>no MQTT payload, tanks do not move — the rejection is machine-readable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97BC62"/>
          </a:solidFill>
          <a:ln/>
        </p:spPr>
      </p:sp>
      <p:pic>
        <p:nvPicPr>
          <p:cNvPr id="3" name="Image 0" descr="preencoded.png">    </p:cNvPr>
          <p:cNvPicPr>
            <a:picLocks noChangeAspect="1"/>
          </p:cNvPicPr>
          <p:nvPr/>
        </p:nvPicPr>
        <p:blipFill>
          <a:blip r:embed="rId1"/>
          <a:stretch>
            <a:fillRect/>
          </a:stretch>
        </p:blipFill>
        <p:spPr>
          <a:xfrm>
            <a:off x="667512" y="576072"/>
            <a:ext cx="237744" cy="237744"/>
          </a:xfrm>
          <a:prstGeom prst="rect">
            <a:avLst/>
          </a:prstGeom>
        </p:spPr>
      </p:pic>
      <p:sp>
        <p:nvSpPr>
          <p:cNvPr id="4" name="Text 1"/>
          <p:cNvSpPr/>
          <p:nvPr/>
        </p:nvSpPr>
        <p:spPr>
          <a:xfrm>
            <a:off x="1170432" y="457200"/>
            <a:ext cx="7772400" cy="475488"/>
          </a:xfrm>
          <a:prstGeom prst="rect">
            <a:avLst/>
          </a:prstGeom>
          <a:noFill/>
          <a:ln/>
        </p:spPr>
        <p:txBody>
          <a:bodyPr wrap="square" lIns="0" tIns="0" rIns="0" bIns="0" rtlCol="0" anchor="ctr"/>
          <a:lstStyle/>
          <a:p>
            <a:pPr algn="l" indent="0" marL="0">
              <a:buNone/>
            </a:pPr>
            <a:r>
              <a:rPr lang="en-US" sz="1300" b="1" spc="300" kern="0" dirty="0">
                <a:solidFill>
                  <a:srgbClr val="97BC62"/>
                </a:solidFill>
                <a:latin typeface="Calibri" pitchFamily="34" charset="0"/>
                <a:ea typeface="Calibri" pitchFamily="34" charset="-122"/>
                <a:cs typeface="Calibri" pitchFamily="34" charset="-120"/>
              </a:rPr>
              <a:t>IMPACT</a:t>
            </a:r>
            <a:endParaRPr lang="en-US" sz="1300" dirty="0"/>
          </a:p>
        </p:txBody>
      </p:sp>
      <p:sp>
        <p:nvSpPr>
          <p:cNvPr id="5" name="Text 2"/>
          <p:cNvSpPr/>
          <p:nvPr/>
        </p:nvSpPr>
        <p:spPr>
          <a:xfrm>
            <a:off x="548640" y="1024128"/>
            <a:ext cx="11064240" cy="77724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One decision, made correctly, every cycle</a:t>
            </a:r>
            <a:endParaRPr lang="en-US" sz="3800" dirty="0"/>
          </a:p>
        </p:txBody>
      </p:sp>
      <p:sp>
        <p:nvSpPr>
          <p:cNvPr id="6" name="Text 3"/>
          <p:cNvSpPr/>
          <p:nvPr/>
        </p:nvSpPr>
        <p:spPr>
          <a:xfrm>
            <a:off x="548640" y="2103120"/>
            <a:ext cx="3520440" cy="868680"/>
          </a:xfrm>
          <a:prstGeom prst="rect">
            <a:avLst/>
          </a:prstGeom>
          <a:noFill/>
          <a:ln/>
        </p:spPr>
        <p:txBody>
          <a:bodyPr wrap="square" lIns="0" tIns="0" rIns="0" bIns="0" rtlCol="0" anchor="ctr"/>
          <a:lstStyle/>
          <a:p>
            <a:pPr algn="ctr" indent="0" marL="0">
              <a:buNone/>
            </a:pPr>
            <a:r>
              <a:rPr lang="en-US" sz="4400" b="1" dirty="0">
                <a:solidFill>
                  <a:srgbClr val="97BC62"/>
                </a:solidFill>
                <a:latin typeface="Cambria" pitchFamily="34" charset="0"/>
                <a:ea typeface="Cambria" pitchFamily="34" charset="-122"/>
                <a:cs typeface="Cambria" pitchFamily="34" charset="-120"/>
              </a:rPr>
              <a:t>90 %</a:t>
            </a:r>
            <a:endParaRPr lang="en-US" sz="4400" dirty="0"/>
          </a:p>
        </p:txBody>
      </p:sp>
      <p:sp>
        <p:nvSpPr>
          <p:cNvPr id="7" name="Text 4"/>
          <p:cNvSpPr/>
          <p:nvPr/>
        </p:nvSpPr>
        <p:spPr>
          <a:xfrm>
            <a:off x="822960" y="3017520"/>
            <a:ext cx="2971800" cy="685800"/>
          </a:xfrm>
          <a:prstGeom prst="rect">
            <a:avLst/>
          </a:prstGeom>
          <a:noFill/>
          <a:ln/>
        </p:spPr>
        <p:txBody>
          <a:bodyPr wrap="square" lIns="0" tIns="0" rIns="0" bIns="0" rtlCol="0" anchor="t"/>
          <a:lstStyle/>
          <a:p>
            <a:pPr algn="ctr" indent="0" marL="0">
              <a:buNone/>
            </a:pPr>
            <a:r>
              <a:rPr lang="en-US" sz="1300" dirty="0">
                <a:solidFill>
                  <a:srgbClr val="DDE8D8"/>
                </a:solidFill>
                <a:latin typeface="Calibri" pitchFamily="34" charset="0"/>
                <a:ea typeface="Calibri" pitchFamily="34" charset="-122"/>
                <a:cs typeface="Calibri" pitchFamily="34" charset="-120"/>
              </a:rPr>
              <a:t>synthetic-volume reduction target</a:t>
            </a:r>
            <a:endParaRPr lang="en-US" sz="1300" dirty="0"/>
          </a:p>
        </p:txBody>
      </p:sp>
      <p:sp>
        <p:nvSpPr>
          <p:cNvPr id="8" name="Text 5"/>
          <p:cNvSpPr/>
          <p:nvPr/>
        </p:nvSpPr>
        <p:spPr>
          <a:xfrm>
            <a:off x="4370832" y="2103120"/>
            <a:ext cx="3520440" cy="868680"/>
          </a:xfrm>
          <a:prstGeom prst="rect">
            <a:avLst/>
          </a:prstGeom>
          <a:noFill/>
          <a:ln/>
        </p:spPr>
        <p:txBody>
          <a:bodyPr wrap="square" lIns="0" tIns="0" rIns="0" bIns="0" rtlCol="0" anchor="ctr"/>
          <a:lstStyle/>
          <a:p>
            <a:pPr algn="ctr" indent="0" marL="0">
              <a:buNone/>
            </a:pPr>
            <a:r>
              <a:rPr lang="en-US" sz="4400" b="1" dirty="0">
                <a:solidFill>
                  <a:srgbClr val="97BC62"/>
                </a:solidFill>
                <a:latin typeface="Cambria" pitchFamily="34" charset="0"/>
                <a:ea typeface="Cambria" pitchFamily="34" charset="-122"/>
                <a:cs typeface="Cambria" pitchFamily="34" charset="-120"/>
              </a:rPr>
              <a:t>PKR 45,000</a:t>
            </a:r>
            <a:endParaRPr lang="en-US" sz="4400" dirty="0"/>
          </a:p>
        </p:txBody>
      </p:sp>
      <p:sp>
        <p:nvSpPr>
          <p:cNvPr id="9" name="Text 6"/>
          <p:cNvSpPr/>
          <p:nvPr/>
        </p:nvSpPr>
        <p:spPr>
          <a:xfrm>
            <a:off x="4645152" y="3017520"/>
            <a:ext cx="2971800" cy="685800"/>
          </a:xfrm>
          <a:prstGeom prst="rect">
            <a:avLst/>
          </a:prstGeom>
          <a:noFill/>
          <a:ln/>
        </p:spPr>
        <p:txBody>
          <a:bodyPr wrap="square" lIns="0" tIns="0" rIns="0" bIns="0" rtlCol="0" anchor="t"/>
          <a:lstStyle/>
          <a:p>
            <a:pPr algn="ctr" indent="0" marL="0">
              <a:buNone/>
            </a:pPr>
            <a:r>
              <a:rPr lang="en-US" sz="1300" dirty="0">
                <a:solidFill>
                  <a:srgbClr val="DDE8D8"/>
                </a:solidFill>
                <a:latin typeface="Calibri" pitchFamily="34" charset="0"/>
                <a:ea typeface="Calibri" pitchFamily="34" charset="-122"/>
                <a:cs typeface="Calibri" pitchFamily="34" charset="-120"/>
              </a:rPr>
              <a:t>per-acre saving (cost-model estimate)</a:t>
            </a:r>
            <a:endParaRPr lang="en-US" sz="1300" dirty="0"/>
          </a:p>
        </p:txBody>
      </p:sp>
      <p:sp>
        <p:nvSpPr>
          <p:cNvPr id="10" name="Text 7"/>
          <p:cNvSpPr/>
          <p:nvPr/>
        </p:nvSpPr>
        <p:spPr>
          <a:xfrm>
            <a:off x="8193024" y="2103120"/>
            <a:ext cx="3520440" cy="868680"/>
          </a:xfrm>
          <a:prstGeom prst="rect">
            <a:avLst/>
          </a:prstGeom>
          <a:noFill/>
          <a:ln/>
        </p:spPr>
        <p:txBody>
          <a:bodyPr wrap="square" lIns="0" tIns="0" rIns="0" bIns="0" rtlCol="0" anchor="ctr"/>
          <a:lstStyle/>
          <a:p>
            <a:pPr algn="ctr" indent="0" marL="0">
              <a:buNone/>
            </a:pPr>
            <a:r>
              <a:rPr lang="en-US" sz="4400" b="1" dirty="0">
                <a:solidFill>
                  <a:srgbClr val="97BC62"/>
                </a:solidFill>
                <a:latin typeface="Cambria" pitchFamily="34" charset="0"/>
                <a:ea typeface="Cambria" pitchFamily="34" charset="-122"/>
                <a:cs typeface="Cambria" pitchFamily="34" charset="-120"/>
              </a:rPr>
              <a:t>7–14×</a:t>
            </a:r>
            <a:endParaRPr lang="en-US" sz="4400" dirty="0"/>
          </a:p>
        </p:txBody>
      </p:sp>
      <p:sp>
        <p:nvSpPr>
          <p:cNvPr id="11" name="Text 8"/>
          <p:cNvSpPr/>
          <p:nvPr/>
        </p:nvSpPr>
        <p:spPr>
          <a:xfrm>
            <a:off x="8467344" y="3017520"/>
            <a:ext cx="2971800" cy="685800"/>
          </a:xfrm>
          <a:prstGeom prst="rect">
            <a:avLst/>
          </a:prstGeom>
          <a:noFill/>
          <a:ln/>
        </p:spPr>
        <p:txBody>
          <a:bodyPr wrap="square" lIns="0" tIns="0" rIns="0" bIns="0" rtlCol="0" anchor="t"/>
          <a:lstStyle/>
          <a:p>
            <a:pPr algn="ctr" indent="0" marL="0">
              <a:buNone/>
            </a:pPr>
            <a:r>
              <a:rPr lang="en-US" sz="1300" dirty="0">
                <a:solidFill>
                  <a:srgbClr val="DDE8D8"/>
                </a:solidFill>
                <a:latin typeface="Calibri" pitchFamily="34" charset="0"/>
                <a:ea typeface="Calibri" pitchFamily="34" charset="-122"/>
                <a:cs typeface="Calibri" pitchFamily="34" charset="-120"/>
              </a:rPr>
              <a:t>half-life extension, lignin encapsulation (literature)</a:t>
            </a:r>
            <a:endParaRPr lang="en-US" sz="1300" dirty="0"/>
          </a:p>
        </p:txBody>
      </p:sp>
      <p:sp>
        <p:nvSpPr>
          <p:cNvPr id="12" name="Shape 9"/>
          <p:cNvSpPr/>
          <p:nvPr/>
        </p:nvSpPr>
        <p:spPr>
          <a:xfrm>
            <a:off x="548640" y="4160520"/>
            <a:ext cx="11091672" cy="1783080"/>
          </a:xfrm>
          <a:prstGeom prst="roundRect">
            <a:avLst>
              <a:gd name="adj" fmla="val 6154"/>
            </a:avLst>
          </a:prstGeom>
          <a:solidFill>
            <a:srgbClr val="234D24"/>
          </a:solidFill>
          <a:ln/>
        </p:spPr>
      </p:sp>
      <p:sp>
        <p:nvSpPr>
          <p:cNvPr id="13" name="Text 10"/>
          <p:cNvSpPr/>
          <p:nvPr/>
        </p:nvSpPr>
        <p:spPr>
          <a:xfrm>
            <a:off x="868680" y="4389120"/>
            <a:ext cx="10424160" cy="320040"/>
          </a:xfrm>
          <a:prstGeom prst="rect">
            <a:avLst/>
          </a:prstGeom>
          <a:noFill/>
          <a:ln/>
        </p:spPr>
        <p:txBody>
          <a:bodyPr wrap="square" lIns="0" tIns="0" rIns="0" bIns="0" rtlCol="0" anchor="ctr"/>
          <a:lstStyle/>
          <a:p>
            <a:pPr algn="l" indent="0" marL="0">
              <a:buNone/>
            </a:pPr>
            <a:r>
              <a:rPr lang="en-US" sz="1400" b="1" dirty="0">
                <a:solidFill>
                  <a:srgbClr val="97BC62"/>
                </a:solidFill>
                <a:latin typeface="Calibri" pitchFamily="34" charset="0"/>
                <a:ea typeface="Calibri" pitchFamily="34" charset="-122"/>
                <a:cs typeface="Calibri" pitchFamily="34" charset="-120"/>
              </a:rPr>
              <a:t>Honest limits — targets, not measurements</a:t>
            </a:r>
            <a:endParaRPr lang="en-US" sz="1400" dirty="0"/>
          </a:p>
        </p:txBody>
      </p:sp>
      <p:sp>
        <p:nvSpPr>
          <p:cNvPr id="14" name="Text 11"/>
          <p:cNvSpPr/>
          <p:nvPr/>
        </p:nvSpPr>
        <p:spPr>
          <a:xfrm>
            <a:off x="868680" y="4754880"/>
            <a:ext cx="10424160" cy="1097280"/>
          </a:xfrm>
          <a:prstGeom prst="rect">
            <a:avLst/>
          </a:prstGeom>
          <a:noFill/>
          <a:ln/>
        </p:spPr>
        <p:txBody>
          <a:bodyPr wrap="square" lIns="0" tIns="0" rIns="0" bIns="0" rtlCol="0" anchor="t"/>
          <a:lstStyle/>
          <a:p>
            <a:pPr algn="l"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The 90 % and PKR figures are literature-backed targets and cost-model estimates — not results this build measured.</a:t>
            </a:r>
            <a:endParaRPr lang="en-US" sz="1250" dirty="0"/>
          </a:p>
          <a:p>
            <a:pPr algn="l"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The physical ESP32 rig is not built: the digital twin is the demo target, and firmware inherits the same MQTT contract.</a:t>
            </a:r>
            <a:endParaRPr lang="en-US" sz="1250" dirty="0"/>
          </a:p>
          <a:p>
            <a:pPr algn="l"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The twin simulates timed pump actuation and tank depletion — not fluid mechanics.</a:t>
            </a:r>
            <a:endParaRPr lang="en-US" sz="1250" dirty="0"/>
          </a:p>
        </p:txBody>
      </p:sp>
      <p:sp>
        <p:nvSpPr>
          <p:cNvPr id="15" name="Text 12"/>
          <p:cNvSpPr/>
          <p:nvPr/>
        </p:nvSpPr>
        <p:spPr>
          <a:xfrm>
            <a:off x="548640" y="6263640"/>
            <a:ext cx="11091672" cy="365760"/>
          </a:xfrm>
          <a:prstGeom prst="rect">
            <a:avLst/>
          </a:prstGeom>
          <a:noFill/>
          <a:ln/>
        </p:spPr>
        <p:txBody>
          <a:bodyPr wrap="square" lIns="0" tIns="0" rIns="0" bIns="0" rtlCol="0" anchor="ctr"/>
          <a:lstStyle/>
          <a:p>
            <a:pPr algn="ctr" indent="0" marL="0">
              <a:buNone/>
            </a:pPr>
            <a:r>
              <a:rPr lang="en-US" sz="1200" dirty="0">
                <a:solidFill>
                  <a:srgbClr val="A8C4A0"/>
                </a:solidFill>
                <a:latin typeface="Calibri" pitchFamily="34" charset="0"/>
                <a:ea typeface="Calibri" pitchFamily="34" charset="-122"/>
                <a:cs typeface="Calibri" pitchFamily="34" charset="-120"/>
              </a:rPr>
              <a:t>AgriAgent · Autonomous SCADA for on-demand biopesticide formulation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AgriAgent — hackathon pitch</dc:title>
  <dc:subject>PptxGenJS Presentation</dc:subject>
  <dc:creator>AgriAgent</dc:creator>
  <cp:lastModifiedBy>AgriAgent</cp:lastModifiedBy>
  <cp:revision>1</cp:revision>
  <dcterms:created xsi:type="dcterms:W3CDTF">2026-10-03T10:58:25Z</dcterms:created>
  <dcterms:modified xsi:type="dcterms:W3CDTF">2026-10-03T10:58:25Z</dcterms:modified>
</cp:coreProperties>
</file>